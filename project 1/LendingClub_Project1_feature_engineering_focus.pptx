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MACHINE LEARNING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20574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LendingClub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Loan Interest Rates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66928" y="3703320"/>
            <a:ext cx="128016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9136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Application-time prediction of int_rate — exploratory analysis, model comparison, and explainability on 100,000 loans.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LOANS  ·  38 FEATURES  ·  BEST RMSE 3.87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650992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797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Section]    </a:t>
            </a:r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[Group #]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PROBLEM FRAMING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&amp;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interest rate a LendingClub loan would be offered, using only information available at the moment of application.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542032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int_rate (loan APR, %) for 10,000 held-out applications and minimize test-set RMSE.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ranges 6.46–30.99%, mean 12.95, right-skewed (skew 0.85).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regression on tabular application data — no time series, no text scoring.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2212848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GUARDRAILS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4448" y="2542032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is post-origination leakage and is dropped before any modeling.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sub_grade / installment are absent from this slice — no shortcut to APR.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exist, so validation uses a random 80/20 split, not a temporal 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846320"/>
            <a:ext cx="11057839" cy="10973"/>
          </a:xfrm>
          <a:prstGeom prst="rect">
            <a:avLst/>
          </a:prstGeom>
          <a:solidFill>
            <a:srgbClr val="E5E0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92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78496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78496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90064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90064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01632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6.46–31%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01632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3199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12.95%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3199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indent="0" marL="0">
              <a:buNone/>
            </a:pPr>
            <a:r>
              <a:rPr sz="1300" b="1">
                <a:solidFill>
                  <a:srgbClr val="8A8A8A"/>
                </a:solidFill>
                <a:latin typeface="Calibri"/>
              </a:rPr>
              <a:t>METHODOLOGY -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indent="0" marL="0">
              <a:buNone/>
            </a:pPr>
            <a:r>
              <a:rPr sz="3100" b="1">
                <a:solidFill>
                  <a:srgbClr val="1A1A1E"/>
                </a:solidFill>
                <a:latin typeface="Calibri Light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sz="1500" b="0">
                <a:solidFill>
                  <a:srgbClr val="1A1A1E"/>
                </a:solidFill>
                <a:latin typeface="Calibri"/>
              </a:rPr>
              <a:t>The final CatBoost pipeline converts raw application fields into 36 model-ready features while keeping target information out of every fold.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Rounded Rectangle 16"/>
          <p:cNvSpPr/>
          <p:nvPr/>
        </p:nvSpPr>
        <p:spPr>
          <a:xfrm>
            <a:off x="566928" y="1764792"/>
            <a:ext cx="1920240" cy="5486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830" b="1">
                <a:solidFill>
                  <a:srgbClr val="C9A96E"/>
                </a:solidFill>
                <a:latin typeface="Calibri"/>
              </a:rPr>
              <a:t>01 DATA PREP</a:t>
            </a:r>
          </a:p>
          <a:p>
            <a:pPr>
              <a:spcBef>
                <a:spcPts val="100"/>
              </a:spcBef>
            </a:pPr>
            <a:r>
              <a:rPr sz="860" b="0">
                <a:solidFill>
                  <a:srgbClr val="1A1A1E"/>
                </a:solidFill>
                <a:latin typeface="Calibri"/>
              </a:rPr>
              <a:t>Cast NA numerics; drop leakage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764792"/>
            <a:ext cx="1920240" cy="502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96896" y="1764792"/>
            <a:ext cx="6967728" cy="54864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830" b="1">
                <a:solidFill>
                  <a:srgbClr val="C9A96E"/>
                </a:solidFill>
                <a:latin typeface="Calibri"/>
              </a:rPr>
              <a:t>02 FEATURE ENGINEERING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36 new features = 32 stateless + 4 leakage-safe target encodings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1764792"/>
            <a:ext cx="6967728" cy="502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74352" y="1764792"/>
            <a:ext cx="1920240" cy="5486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/>
            <a:r>
              <a:rPr sz="830" b="1">
                <a:solidFill>
                  <a:srgbClr val="2563EB"/>
                </a:solidFill>
                <a:latin typeface="Calibri"/>
              </a:rPr>
              <a:t>03 VALIDATION</a:t>
            </a:r>
          </a:p>
          <a:p>
            <a:pPr>
              <a:spcBef>
                <a:spcPts val="100"/>
              </a:spcBef>
            </a:pPr>
            <a:r>
              <a:rPr sz="860" b="0">
                <a:solidFill>
                  <a:srgbClr val="1A1A1E"/>
                </a:solidFill>
                <a:latin typeface="Calibri"/>
              </a:rPr>
              <a:t>80/20 holdout + 5-fold 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74352" y="1764792"/>
            <a:ext cx="19202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2542032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542032"/>
            <a:ext cx="64008" cy="1207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2376" y="2679192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42616"/>
            <a:ext cx="2734056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Credit quality + recodes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935224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fico, fico_band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term_months, emp_length_num, zip3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Collapses collinearity; exposes term/geography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3672" y="2542032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33672" y="2542032"/>
            <a:ext cx="64008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20" y="267919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2642616"/>
            <a:ext cx="2734056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Affordability ratios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5464" y="2935224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loan_to_income, payment_to_income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bal_to_income, acc_open_ratio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Normalizes requested credit to ability to pay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0416" y="2542032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0416" y="2542032"/>
            <a:ext cx="64008" cy="1207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55864" y="267919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2642616"/>
            <a:ext cx="2734056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Bands + log 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2935224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dti_band, revol_util_band, all_util_band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log1p_annual_inc, log1p_revol_bal, ...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Captures nonlinear risk and compresses skew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977639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3977639"/>
            <a:ext cx="64008" cy="120700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2376" y="4114799"/>
            <a:ext cx="402336" cy="402336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078223"/>
            <a:ext cx="2734056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Interactions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370831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term_x_dti, fico_x_term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util_x_fico, dti_x_fico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Models credit quality x loan structure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3672" y="3977639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33672" y="3977639"/>
            <a:ext cx="64008" cy="12070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89120" y="4114799"/>
            <a:ext cx="402336" cy="402336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5464" y="4078223"/>
            <a:ext cx="2734056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Missingness, risk, history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5464" y="4370831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has_mths_since_* flags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derog_score, inq_intensity, credit_file_age_yrs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Treats missing events and sparse derogatories as signal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00416" y="3977639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00416" y="3977639"/>
            <a:ext cx="64008" cy="1207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55864" y="4114799"/>
            <a:ext cx="402336" cy="402336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4078223"/>
            <a:ext cx="2734056" cy="256032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Leakage-safe encodings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2208" y="4370831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addr_state_te, purpose_te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zip3_te, emp_title_te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Smoothed out-of-fold high-cardinality signal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440680"/>
            <a:ext cx="11018520" cy="530352"/>
          </a:xfrm>
          <a:prstGeom prst="roundRect">
            <a:avLst/>
          </a:prstGeom>
          <a:solidFill>
            <a:srgbClr val="F8F4EC"/>
          </a:solidFill>
          <a:ln w="1143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36576"/>
          <a:lstStyle/>
          <a:p>
            <a:pPr algn="ctr"/>
            <a:r>
              <a:rPr sz="1030" b="1">
                <a:solidFill>
                  <a:srgbClr val="C9A96E"/>
                </a:solidFill>
                <a:latin typeface="Calibri"/>
              </a:rPr>
              <a:t>Guardrail: </a:t>
            </a:r>
            <a:r>
              <a:rPr sz="1030" b="0">
                <a:solidFill>
                  <a:srgbClr val="1A1A1E"/>
                </a:solidFill>
                <a:latin typeface="Calibri"/>
              </a:rPr>
              <a:t>loan_status is dropped before modeling; target encodings are fit inside folds. Raw fields replaced: FICO bounds, term, emp_length, title, and zip_code.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3688" y="2350008"/>
            <a:ext cx="2651760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Says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is the dominant application-time signal; utilization, DTI and loan term carry most of the remaining recoverable variance.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37744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↔ rate: Spearman −0.46 — higher credit score, lower APR.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next: all_util +0.33, revol_util +0.30; DTI +0.18.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term and small-business / educational purposes price higher.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mths_since_last_record is 90.9% missing — "no record" is signal, not noise.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 are smaller (loan_amnt PSI 0.17) and slightly higher FICO.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38928" y="2011680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vs INTEREST RATE</a:t>
            </a:r>
            <a:endParaRPr lang="en-US" sz="1400" dirty="0"/>
          </a:p>
        </p:txBody>
      </p:sp>
      <p:pic>
        <p:nvPicPr>
          <p:cNvPr id="9" name="Image 0" descr="/tmp/deck/assets/fi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5304" y="2322576"/>
            <a:ext cx="4133088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8928" y="4334256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400" dirty="0"/>
          </a:p>
        </p:txBody>
      </p:sp>
      <p:pic>
        <p:nvPicPr>
          <p:cNvPr id="11" name="Image 1" descr="/tmp/deck/assets/targe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502" y="4645152"/>
            <a:ext cx="3704692" cy="1691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Models, One Winner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and tuned five model families on identical features and the same 80/20 split. CatBoost is filled below; add your other four results in the placeholder rows.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3172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463040"/>
                <a:gridCol w="1417320"/>
                <a:gridCol w="1280160"/>
                <a:gridCol w="309981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Model 1 ]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 Linear / Ridge baseline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Model 2 ]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 Random Forest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Model 3 ]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 XGBoost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Model 4 ]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e.g. LightGBM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 (final)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9A9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Fold-averaged, Optuna-tuned — selected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it:  </a:t>
            </a:r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Val RMSE wins (ties broken by MAE). Replace the bracketed rows with your four other models — keep CatBoost as the highlighted selected model.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Model: CatBoost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native categorical handling; 5-fold per-fold target encoding gives an honest cross-validated estimate that matches the holdout.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PERFORMANCE (20%)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(CV)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1576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3.872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2.902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977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1576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0.465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3977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855464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0.03 · depth 7 · l2_leaf_reg 5.0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random_strength 1.0 · bagging_temperature 0.5 · border_count 200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iterations, early stopping 100; predictions clipped to [6, 31].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21808" y="2240280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400" dirty="0"/>
          </a:p>
        </p:txBody>
      </p:sp>
      <p:pic>
        <p:nvPicPr>
          <p:cNvPr id="18" name="Image 0" descr="/tmp/deck/assets/res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2551176"/>
            <a:ext cx="5120640" cy="1828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4617720"/>
            <a:ext cx="6302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(3.863) and holdout RMSE (3.872) agree closely — the model is well-calibrated and not over-fit. R² of 0.465 reflects the dataset's real ceiling without grade/sub-grade.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EXPLAINABILITY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permutation importance agree with the EDA: credit quality, loan structure, and utilization drive the rate.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400" dirty="0"/>
          </a:p>
        </p:txBody>
      </p:sp>
      <p:pic>
        <p:nvPicPr>
          <p:cNvPr id="7" name="Image 0" descr="/tmp/deck/assets/s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06" y="2551176"/>
            <a:ext cx="3552444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6008" y="2240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400" dirty="0"/>
          </a:p>
        </p:txBody>
      </p:sp>
      <p:pic>
        <p:nvPicPr>
          <p:cNvPr id="9" name="Image 1" descr="/tmp/deck/assets/p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551176"/>
            <a:ext cx="3246120" cy="23022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93608" y="2240280"/>
            <a:ext cx="3331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93608" y="2569464"/>
            <a:ext cx="333115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dominates — a strong score is the single biggest lever on the offered rate.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structure (term × DTI, loan_amnt) is the next driver of pricing.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and recent credit activity push rates up at the margin.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drivers across SHAP, permutation and gain — the model is trustworthy.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REFLECTION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Reflection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09728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6596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295144"/>
            <a:ext cx="530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predicts int_rate at RMSE 3.87 / R² 0.465 on held-out data, with CV and holdout in close agreement.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FICO, loan term and utilization explain most of the recoverable signal once leakage is removed.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leakage handling matters more than model complexity on this slice.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8" y="196596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448" y="2295144"/>
            <a:ext cx="530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 leakage first — dropping loan_status / grade shaped the whole problem.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Fold-internal target encoding is essential to keep the CV estimate honest.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ceiling: without grade/sub-grade, R² near 0.47 is the realistic limit, not a modeling failure.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71500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submission:  </a:t>
            </a:r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· test RMSE-optimized · predictions clipped to [6, 31]%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400" dirty="0"/>
          </a:p>
        </p:txBody>
      </p:sp>
      <p:pic>
        <p:nvPicPr>
          <p:cNvPr id="6" name="Image 0" descr="/tmp/deck/asset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737" y="1892808"/>
            <a:ext cx="2406701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CATEGORY</a:t>
            </a:r>
            <a:endParaRPr lang="en-US" sz="1400" dirty="0"/>
          </a:p>
        </p:txBody>
      </p:sp>
      <p:pic>
        <p:nvPicPr>
          <p:cNvPr id="8" name="Image 1" descr="/tmp/deck/assets/cat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023" y="1892808"/>
            <a:ext cx="4319168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3434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400" dirty="0"/>
          </a:p>
        </p:txBody>
      </p:sp>
      <p:pic>
        <p:nvPicPr>
          <p:cNvPr id="10" name="Image 2" descr="/tmp/deck/assets/mi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85" y="4636008"/>
            <a:ext cx="3245206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8" y="43434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DRIFT</a:t>
            </a:r>
            <a:endParaRPr lang="en-US" sz="1400" dirty="0"/>
          </a:p>
        </p:txBody>
      </p:sp>
      <p:pic>
        <p:nvPicPr>
          <p:cNvPr id="12" name="Image 3" descr="/tmp/deck/assets/dr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636008"/>
            <a:ext cx="5300320" cy="1017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(HIGH-RATE LOAN)</a:t>
            </a:r>
            <a:endParaRPr lang="en-US" sz="1400" dirty="0"/>
          </a:p>
        </p:txBody>
      </p:sp>
      <p:pic>
        <p:nvPicPr>
          <p:cNvPr id="6" name="Image 0" descr="/tmp/deck/asse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160" y="1892808"/>
            <a:ext cx="3419856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GAIN (TOP 10)</a:t>
            </a:r>
            <a:endParaRPr lang="en-US" sz="1400" dirty="0"/>
          </a:p>
        </p:txBody>
      </p:sp>
      <p:pic>
        <p:nvPicPr>
          <p:cNvPr id="8" name="Image 1" descr="/tmp/deck/assets/g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443" y="1892808"/>
            <a:ext cx="309433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8" y="420624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(TOP 3)</a:t>
            </a:r>
            <a:endParaRPr lang="en-US" sz="1400" dirty="0"/>
          </a:p>
        </p:txBody>
      </p:sp>
      <p:pic>
        <p:nvPicPr>
          <p:cNvPr id="10" name="Image 2" descr="/tmp/deck/assets/pd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73" y="4498848"/>
            <a:ext cx="4430268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Interest Rate Prediction</dc:title>
  <dc:subject>PptxGenJS Presentation</dc:subject>
  <dc:creator>Project 1 Team</dc:creator>
  <cp:lastModifiedBy>Project 1 Team</cp:lastModifiedBy>
  <cp:revision>1</cp:revision>
  <dcterms:created xsi:type="dcterms:W3CDTF">2026-06-01T01:49:50Z</dcterms:created>
  <dcterms:modified xsi:type="dcterms:W3CDTF">2026-06-01T01:49:50Z</dcterms:modified>
</cp:coreProperties>
</file>