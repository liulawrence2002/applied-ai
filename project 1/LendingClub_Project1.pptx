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2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8" r:id="rId7"/>
    <p:sldId id="26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BFB71F-4CA1-6F07-68DA-10C7081B1151}" name="Larry Liu" initials="LL" userId="S::ll1303@georgetown.edu::5f3ed731-e365-4b6a-a934-eaba44596f05" providerId="AD"/>
  <p188:author id="{F18BE05D-1FF1-F8D2-468E-33B5F8EEE26E}" name="Guest User" initials="GU" userId="S::urn:spo:tenantanon#11f7a290-1fd4-4481-b08b-3ec11598b7eb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B5A61B-DEF4-4B75-A892-2A6A98D33A0A}" authorId="{F18BE05D-1FF1-F8D2-468E-33B5F8EEE26E}" created="2026-06-01T01:43:27.3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8" creationId="{00000000-0000-0000-0000-000000000000}"/>
      <ac:txMk cp="153" len="68">
        <ac:context len="222" hash="4294554080"/>
      </ac:txMk>
    </ac:txMkLst>
    <p188:pos x="3144761" y="1874761"/>
    <p188:replyLst>
      <p188:reply id="{9C65CAB9-185F-48FD-B078-6171883F1AFB}" authorId="{02BFB71F-4CA1-6F07-68DA-10C7081B1151}" created="2026-06-01T01:52:13.806">
        <p188:txBody>
          <a:bodyPr/>
          <a:lstStyle/>
          <a:p>
            <a:r>
              <a:rPr lang="en-US"/>
              <a:t>Yep I will update the wording</a:t>
            </a:r>
          </a:p>
        </p188:txBody>
      </p188:reply>
    </p188:replyLst>
    <p188:txBody>
      <a:bodyPr/>
      <a:lstStyle/>
      <a:p>
        <a:r>
          <a:rPr lang="en-US"/>
          <a:t>Not sure how to reword this but it reads funny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48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PROJECT 1 · MACHINE LEARNING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20574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LendingClub</a:t>
            </a:r>
            <a:endParaRPr lang="en-US" sz="4800"/>
          </a:p>
          <a:p>
            <a:pPr marL="0" indent="0">
              <a:lnSpc>
                <a:spcPct val="100000"/>
              </a:lnSpc>
              <a:buNone/>
            </a:pPr>
            <a:r>
              <a:rPr lang="en-US" sz="48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Loan Interest Rates</a:t>
            </a:r>
            <a:endParaRPr lang="en-US" sz="4800"/>
          </a:p>
        </p:txBody>
      </p:sp>
      <p:sp>
        <p:nvSpPr>
          <p:cNvPr id="4" name="Shape 2"/>
          <p:cNvSpPr/>
          <p:nvPr/>
        </p:nvSpPr>
        <p:spPr>
          <a:xfrm>
            <a:off x="566928" y="3703320"/>
            <a:ext cx="128016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39136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000">
                <a:solidFill>
                  <a:srgbClr val="D8D2C8"/>
                </a:solidFill>
                <a:latin typeface="Calibri"/>
                <a:ea typeface="Calibri"/>
                <a:cs typeface="Calibri"/>
              </a:rPr>
              <a:t>Application-time prediction of interest rate — exploratory analysis, model comparison, and explainability on 100,000 loans.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66928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100,000 LOANS  ·  38 FEATURES  ·  BEST RMSE 3.87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5650992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5797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 / Section]    </a:t>
            </a:r>
            <a:r>
              <a:rPr lang="en-US" sz="16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SAXA 8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names]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CONTEXT · PROBLEM FRAMING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&amp; Problem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interest rate a LendingClub loan would be offered, using only information available at the moment of application.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2212848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PROBLEM STATEMENT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542032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Predict interest rate (loan APR, %) for 10,000 held-out applications and minimize test-set RMSE.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ranges 6.46–30.99%, mean 12.95, right-skewed (skew 0.85).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regression on tabular application data — no time series, no text scoring.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324448" y="2212848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ASSUMPTIONS &amp; GUARDRAILS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24448" y="2542032"/>
            <a:ext cx="530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Loan status is post-origination leakage and is dropped before any modeling.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Grade / sub-grade / installment are absent from this slice — no shortcut to APR.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columns exist, so validation uses a random 80/20 split, not a temporal one.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846320"/>
            <a:ext cx="11057839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49926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DATASET AT A GLANCE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100,000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566928" y="5818041"/>
            <a:ext cx="2188366" cy="342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Training loans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78496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10,000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2778496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Test loans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90064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endParaRPr lang="en-US" sz="3000"/>
          </a:p>
        </p:txBody>
      </p:sp>
      <p:sp>
        <p:nvSpPr>
          <p:cNvPr id="17" name="Text 15"/>
          <p:cNvSpPr/>
          <p:nvPr/>
        </p:nvSpPr>
        <p:spPr>
          <a:xfrm>
            <a:off x="4990064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Model features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01632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6.46–31%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7201632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Target range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3199" y="5340096"/>
            <a:ext cx="212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12.95%</a:t>
            </a:r>
            <a:endParaRPr lang="en-US" sz="3000"/>
          </a:p>
        </p:txBody>
      </p:sp>
      <p:sp>
        <p:nvSpPr>
          <p:cNvPr id="21" name="Text 19"/>
          <p:cNvSpPr/>
          <p:nvPr/>
        </p:nvSpPr>
        <p:spPr>
          <a:xfrm>
            <a:off x="9413199" y="5852160"/>
            <a:ext cx="212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Mean rate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DATA PREP &amp;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05840" cy="36576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stateless pipeline turns raw application fields into 36 model-ready features, identically on train and test, keeping target information out of every fold.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PREP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NA numerics; drop leakage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4314" y="2048256"/>
            <a:ext cx="3503066" cy="67665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0618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FEATURE ENGINEERING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0618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stateless + 4 fold-safe encodings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1701" y="2048256"/>
            <a:ext cx="350306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68005" y="2112264"/>
            <a:ext cx="3228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8005" y="2404872"/>
            <a:ext cx="32287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holdout + 5-fold CV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&amp; recodes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fico, fico_band, term_months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collinearity; adds geography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38218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02810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0281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78298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ratios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02810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loan_to_income, bal_to_income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2810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credit to ability to pay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9509" y="2834640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09509" y="2834640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74101" y="2971800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74101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9589" y="2953512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&amp; log tails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4101" y="3401568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/ util bands, log1p tails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4101" y="3822192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risk; cuts skew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2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692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152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0700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term_x_dti, fico_x_term, util_x_fico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152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× loan structure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38218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38218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02810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0281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978298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&amp; history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02810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has_* flags, derog_score, file_age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02810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missing events as signal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09509" y="4370832"/>
            <a:ext cx="351525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09509" y="4370832"/>
            <a:ext cx="54864" cy="1389888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274101" y="4507992"/>
            <a:ext cx="384048" cy="384048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74101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749589" y="4489704"/>
            <a:ext cx="27471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encodings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74101" y="4937760"/>
            <a:ext cx="32043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addr_state_te, purpose_te, zip3_te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4101" y="5358384"/>
            <a:ext cx="32043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high-cardinality signal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6928" y="5852160"/>
            <a:ext cx="10234879" cy="457200"/>
          </a:xfrm>
          <a:prstGeom prst="rect">
            <a:avLst/>
          </a:prstGeom>
          <a:solidFill>
            <a:srgbClr val="EFE7D5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31520" y="5852160"/>
            <a:ext cx="9914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dropped before modeling; encodings fit inside folds; raw FICO bounds, term, emp_length, title &amp; zip replaced by engineered forms.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72800" y="6364224"/>
            <a:ext cx="649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sz="1300" b="1">
                <a:solidFill>
                  <a:srgbClr val="8A8A8A"/>
                </a:solidFill>
                <a:latin typeface="Calibri"/>
              </a:rPr>
              <a:t>METHODOLOGY -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ctr"/>
          <a:lstStyle/>
          <a:p>
            <a:pPr marL="0" indent="0">
              <a:buNone/>
            </a:pPr>
            <a:r>
              <a:rPr sz="3100" b="1">
                <a:solidFill>
                  <a:srgbClr val="1A1A1E"/>
                </a:solidFill>
                <a:latin typeface="Calibri Light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54864" tIns="27432" rIns="54864" bIns="27432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sz="1500" b="0">
                <a:solidFill>
                  <a:srgbClr val="1A1A1E"/>
                </a:solidFill>
                <a:latin typeface="Calibri"/>
              </a:rPr>
              <a:t>The final CatBoost pipeline converts raw application fields into 36 model-ready features while keeping target information out of every fold.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Rounded Rectangle 16"/>
          <p:cNvSpPr/>
          <p:nvPr/>
        </p:nvSpPr>
        <p:spPr>
          <a:xfrm>
            <a:off x="566928" y="1764792"/>
            <a:ext cx="1920240" cy="5486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/>
            <a:r>
              <a:rPr sz="830" b="1">
                <a:solidFill>
                  <a:srgbClr val="C9A96E"/>
                </a:solidFill>
                <a:latin typeface="Calibri"/>
              </a:rPr>
              <a:t>01 DATA PREP</a:t>
            </a:r>
          </a:p>
          <a:p>
            <a:pPr>
              <a:spcBef>
                <a:spcPts val="100"/>
              </a:spcBef>
            </a:pPr>
            <a:r>
              <a:rPr sz="860" b="0">
                <a:solidFill>
                  <a:srgbClr val="1A1A1E"/>
                </a:solidFill>
                <a:latin typeface="Calibri"/>
              </a:rPr>
              <a:t>Cast NA numerics; drop 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764792"/>
            <a:ext cx="1920240" cy="502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96896" y="1764792"/>
            <a:ext cx="6967728" cy="548640"/>
          </a:xfrm>
          <a:prstGeom prst="roundRect">
            <a:avLst/>
          </a:prstGeom>
          <a:solidFill>
            <a:srgbClr val="1A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/>
            <a:r>
              <a:rPr sz="830" b="1" dirty="0">
                <a:solidFill>
                  <a:srgbClr val="C9A96E"/>
                </a:solidFill>
                <a:latin typeface="Calibri"/>
              </a:rPr>
              <a:t>02 FEATURE ENGINEERING</a:t>
            </a:r>
          </a:p>
          <a:p>
            <a:pPr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</a:rPr>
              <a:t>36 new features = 32 stateless + 4 leakage-safe target encodings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1764792"/>
            <a:ext cx="6967728" cy="5029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74352" y="1764792"/>
            <a:ext cx="1920240" cy="548640"/>
          </a:xfrm>
          <a:prstGeom prst="roundRect">
            <a:avLst/>
          </a:prstGeom>
          <a:solidFill>
            <a:srgbClr val="F8F9FB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tlCol="0" anchor="ctr"/>
          <a:lstStyle/>
          <a:p>
            <a:pPr algn="ctr"/>
            <a:r>
              <a:rPr sz="830" b="1">
                <a:solidFill>
                  <a:srgbClr val="2563EB"/>
                </a:solidFill>
                <a:latin typeface="Calibri"/>
              </a:rPr>
              <a:t>03 VALIDATION</a:t>
            </a:r>
          </a:p>
          <a:p>
            <a:pPr>
              <a:spcBef>
                <a:spcPts val="100"/>
              </a:spcBef>
            </a:pPr>
            <a:r>
              <a:rPr sz="860" b="0">
                <a:solidFill>
                  <a:srgbClr val="1A1A1E"/>
                </a:solidFill>
                <a:latin typeface="Calibri"/>
              </a:rPr>
              <a:t>80/20 holdout + 5-fold 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1764792"/>
            <a:ext cx="192024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2542032"/>
            <a:ext cx="64008" cy="1207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2376" y="2679192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42616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Credit quality + recodes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935224"/>
            <a:ext cx="2752344" cy="713232"/>
          </a:xfrm>
          <a:prstGeom prst="rect">
            <a:avLst/>
          </a:prstGeom>
          <a:noFill/>
        </p:spPr>
        <p:txBody>
          <a:bodyPr wrap="square" lIns="73152" tIns="45720" rIns="73152" bIns="36576" anchor="t">
            <a:normAutofit/>
          </a:bodyPr>
          <a:lstStyle/>
          <a:p>
            <a:pPr>
              <a:spcAft>
                <a:spcPts val="100"/>
              </a:spcAft>
            </a:pPr>
            <a:r>
              <a:rPr lang="en-US" sz="900" b="0">
                <a:solidFill>
                  <a:srgbClr val="1A1A1E"/>
                </a:solidFill>
                <a:latin typeface="Calibri"/>
              </a:rPr>
              <a:t>fico, </a:t>
            </a:r>
            <a:r>
              <a:rPr lang="en-US" sz="900" b="0" err="1">
                <a:solidFill>
                  <a:srgbClr val="1A1A1E"/>
                </a:solidFill>
                <a:latin typeface="Calibri"/>
              </a:rPr>
              <a:t>fico_band</a:t>
            </a:r>
            <a:endParaRPr lang="en-US" sz="900" b="0" err="1">
              <a:solidFill>
                <a:srgbClr val="1A1A1E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"/>
              </a:spcAft>
            </a:pPr>
            <a:r>
              <a:rPr lang="en-US" sz="900" b="0" err="1">
                <a:solidFill>
                  <a:srgbClr val="1A1A1E"/>
                </a:solidFill>
                <a:latin typeface="Calibri"/>
              </a:rPr>
              <a:t>term_months</a:t>
            </a:r>
            <a:r>
              <a:rPr lang="en-US" sz="900" b="0">
                <a:solidFill>
                  <a:srgbClr val="1A1A1E"/>
                </a:solidFill>
                <a:latin typeface="Calibri"/>
              </a:rPr>
              <a:t>, </a:t>
            </a:r>
            <a:r>
              <a:rPr lang="en-US" sz="900" b="0" err="1">
                <a:solidFill>
                  <a:srgbClr val="1A1A1E"/>
                </a:solidFill>
                <a:latin typeface="Calibri"/>
              </a:rPr>
              <a:t>emp_length_num</a:t>
            </a:r>
            <a:r>
              <a:rPr lang="en-US" sz="900" b="0">
                <a:solidFill>
                  <a:srgbClr val="1A1A1E"/>
                </a:solidFill>
                <a:latin typeface="Calibri"/>
              </a:rPr>
              <a:t>, zip3</a:t>
            </a:r>
            <a:endParaRPr lang="en-US" sz="900" b="0">
              <a:solidFill>
                <a:srgbClr val="1A1A1E"/>
              </a:solidFill>
              <a:latin typeface="Calibri"/>
              <a:ea typeface="Calibri"/>
              <a:cs typeface="Calibri"/>
            </a:endParaRPr>
          </a:p>
          <a:p>
            <a:pPr>
              <a:spcAft>
                <a:spcPts val="100"/>
              </a:spcAft>
            </a:pPr>
            <a:r>
              <a:rPr lang="en-US" sz="900" b="0">
                <a:solidFill>
                  <a:srgbClr val="1A1A1E"/>
                </a:solidFill>
                <a:latin typeface="Calibri"/>
              </a:rPr>
              <a:t>Collapses collinearity; exposes term/geography</a:t>
            </a:r>
            <a:endParaRPr lang="en-US" sz="900" b="0">
              <a:solidFill>
                <a:srgbClr val="1A1A1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233672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33672" y="2542032"/>
            <a:ext cx="64008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389120" y="267919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2642616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Affordability ratios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464" y="2935224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loan_to_income, payment_to_income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bal_to_income, acc_open_ratio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Normalizes requested credit to ability to pay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0416" y="2542032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00416" y="2542032"/>
            <a:ext cx="64008" cy="1207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55864" y="267919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208" y="2642616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Bands + log 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2935224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dti_band, revol_util_band, all_util_band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log1p_annual_inc, log1p_revol_bal, ...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Captures nonlinear risk and compresses skew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3977639"/>
            <a:ext cx="64008" cy="120700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2376" y="4114799"/>
            <a:ext cx="402336" cy="402336"/>
          </a:xfrm>
          <a:prstGeom prst="ellipse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078223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Interactions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term_x_dti, fico_x_term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util_x_fico, dti_x_fico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Models credit quality x loan structure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3672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33672" y="3977639"/>
            <a:ext cx="64008" cy="120700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89120" y="4114799"/>
            <a:ext cx="402336" cy="402336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5464" y="4078223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Missingness, risk, 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5464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has_mths_since_* flags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derog_score, inq_intensity, credit_file_age_yrs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Treats missing events and sparse derogatories as signal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00416" y="3977639"/>
            <a:ext cx="3502152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900416" y="3977639"/>
            <a:ext cx="64008" cy="1207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55864" y="4114799"/>
            <a:ext cx="402336" cy="402336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4078223"/>
            <a:ext cx="2734056" cy="256032"/>
          </a:xfrm>
          <a:prstGeom prst="rect">
            <a:avLst/>
          </a:prstGeom>
          <a:noFill/>
        </p:spPr>
        <p:txBody>
          <a:bodyPr wrap="none" lIns="54864" tIns="27432" rIns="54864" bIns="27432">
            <a:spAutoFit/>
          </a:bodyPr>
          <a:lstStyle/>
          <a:p>
            <a:r>
              <a:rPr sz="1140" b="1">
                <a:solidFill>
                  <a:srgbClr val="1A1A1E"/>
                </a:solidFill>
                <a:latin typeface="Calibri"/>
              </a:rPr>
              <a:t>Leakage-safe encodings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8" y="4370831"/>
            <a:ext cx="2752344" cy="713232"/>
          </a:xfrm>
          <a:prstGeom prst="rect">
            <a:avLst/>
          </a:prstGeom>
          <a:noFill/>
        </p:spPr>
        <p:txBody>
          <a:bodyPr wrap="square" lIns="73152" rIns="73152" bIns="36576">
            <a:normAutofit/>
          </a:bodyPr>
          <a:lstStyle/>
          <a:p>
            <a:pPr>
              <a:spcAft>
                <a:spcPts val="100"/>
              </a:spcAft>
            </a:pPr>
            <a:r>
              <a:rPr sz="829" b="0">
                <a:solidFill>
                  <a:srgbClr val="1A1A1E"/>
                </a:solidFill>
                <a:latin typeface="Calibri"/>
              </a:rPr>
              <a:t>addr_state_te, purpose_te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zip3_te, emp_title_te</a:t>
            </a:r>
          </a:p>
          <a:p>
            <a:pPr>
              <a:spcAft>
                <a:spcPts val="100"/>
              </a:spcAft>
            </a:pPr>
            <a:r>
              <a:rPr sz="810" b="0">
                <a:solidFill>
                  <a:srgbClr val="1A1A1E"/>
                </a:solidFill>
                <a:latin typeface="Calibri"/>
              </a:rPr>
              <a:t>Smoothed out-of-fold high-cardinality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440680"/>
            <a:ext cx="11018520" cy="530352"/>
          </a:xfrm>
          <a:prstGeom prst="roundRect">
            <a:avLst/>
          </a:prstGeom>
          <a:solidFill>
            <a:srgbClr val="F8F4EC"/>
          </a:solidFill>
          <a:ln w="1143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36576" rtlCol="0" anchor="ctr"/>
          <a:lstStyle/>
          <a:p>
            <a:pPr algn="ctr"/>
            <a:r>
              <a:rPr sz="1030" b="1">
                <a:solidFill>
                  <a:srgbClr val="C9A96E"/>
                </a:solidFill>
                <a:latin typeface="Calibri"/>
              </a:rPr>
              <a:t>Guardrail: </a:t>
            </a:r>
            <a:r>
              <a:rPr sz="1030" b="0">
                <a:solidFill>
                  <a:srgbClr val="1A1A1E"/>
                </a:solidFill>
                <a:latin typeface="Calibri"/>
              </a:rPr>
              <a:t>loan_status is dropped before modeling; target encodings are fit inside folds. Raw fields replaced: FICO bounds, term, emp_length, title, and zip_code.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33688" y="2350008"/>
            <a:ext cx="2651760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4361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APPROACH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Methodology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stateless pipeline cleans, engineers, and encodes every feature identically on train and test, so nothing learned on the target leaks across folds.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PREPARATION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66928" y="2551176"/>
            <a:ext cx="3381146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697480"/>
            <a:ext cx="338114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Cast 8 string-encoded </a:t>
            </a: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numerics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(literal "NA") to float at load.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Drop loan status (leakage), </a:t>
            </a: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emp_title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(35k free-text), and title (duplicate of purpose).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Add has_* flags for informative missingness in months since* fields.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05274" y="224028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 ENGINEERING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405274" y="2551176"/>
            <a:ext cx="3381146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05274" y="2697480"/>
            <a:ext cx="338114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FICO pair to a midpoint; build dti, utilization &amp; FICO bands.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monetary tails; ratios (loan-to-income) and interactions (util×FICO, term×dti).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K-fold target encoding for high-cardinality categoricals.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243621" y="2240280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VALIDATION &amp; TUNING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8243621" y="2551176"/>
            <a:ext cx="3381146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43621" y="2697480"/>
            <a:ext cx="338114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80/20 holdout plus 5-fold KFold for an honest OOF estimate.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Optuna-tuned hyperparameters; early stopping on RMSE.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5 model families; pick the best on validation RMSE.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ANALYSIS · EXPLORATORY DATA ANALYSIS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Data Says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is the dominant application-time signal; utilization, DTI and loan term carry most of the remaining recoverable variance.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180562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KEY FINDINGS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2239644"/>
            <a:ext cx="3706278" cy="3431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↔ rate: Spearman −0.46 — higher credit score, lower APR.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Utilization next: all utilization +0.33, revolving utilization +0.30; DTI +0.18.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60-month term and small-business / educational purposes price higher.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"Months since last record" is 90.9% missing — "no record" is signal, not noise.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Test loans are smaller (loan amount PSI 0.17) and slightly higher FICO.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19065" y="1710428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FICO vs INTEREST RATE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19064" y="4260103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TARGET DISTRIBUTION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pic>
        <p:nvPicPr>
          <p:cNvPr id="14" name="Image 0" descr="/tmp/deck/assets/fico2.png">
            <a:extLst>
              <a:ext uri="{FF2B5EF4-FFF2-40B4-BE49-F238E27FC236}">
                <a16:creationId xmlns:a16="http://schemas.microsoft.com/office/drawing/2014/main" id="{2B263A15-EC85-A1E4-9326-B025AF1D1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065" y="1991857"/>
            <a:ext cx="5098113" cy="2261137"/>
          </a:xfrm>
          <a:prstGeom prst="rect">
            <a:avLst/>
          </a:prstGeom>
        </p:spPr>
      </p:pic>
      <p:pic>
        <p:nvPicPr>
          <p:cNvPr id="15" name="Image 1" descr="/tmp/deck/assets/target2.png">
            <a:extLst>
              <a:ext uri="{FF2B5EF4-FFF2-40B4-BE49-F238E27FC236}">
                <a16:creationId xmlns:a16="http://schemas.microsoft.com/office/drawing/2014/main" id="{E833D269-8178-398A-7A56-2F43D2393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64" y="4541532"/>
            <a:ext cx="5098114" cy="2321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MODELING · COMPARISON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Models, One Winner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and tuned five model families on identical features and the same 80/20 split. CatBoost is filled below; add your other four results in the placeholder rows.</a:t>
            </a:r>
            <a:endParaRPr lang="en-US" sz="16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78055"/>
              </p:ext>
            </p:extLst>
          </p:nvPr>
        </p:nvGraphicFramePr>
        <p:xfrm>
          <a:off x="566928" y="2331720"/>
          <a:ext cx="11055096" cy="32491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98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CV RMSE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 RMSE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 MAE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 R²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Notes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Decision Tree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[ e.g. Linear / Ridge baseline ]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4.0723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4.019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3.007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0.410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Good performance, slight overfitting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[ Model 3 ]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[ e.g. </a:t>
                      </a:r>
                      <a:r>
                        <a:rPr lang="en-US" sz="1600" err="1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  <a:r>
                        <a:rPr lang="en-US" sz="16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 ]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Neural Net (MLP)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5.101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0.06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Unstable fold; rejected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err="1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CatBoost</a:t>
                      </a:r>
                      <a:r>
                        <a:rPr lang="en-US" sz="1600" b="1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  (final)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C9A96E"/>
                          </a:solidFill>
                          <a:latin typeface="Calibri"/>
                          <a:ea typeface="Calibri"/>
                          <a:cs typeface="Calibri"/>
                        </a:rPr>
                        <a:t>3.863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C9A96E"/>
                          </a:solidFill>
                          <a:latin typeface="Calibri"/>
                          <a:ea typeface="Calibri"/>
                          <a:cs typeface="Calibri"/>
                        </a:rPr>
                        <a:t>3.872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2.902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0.465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Fold-averaged, </a:t>
                      </a:r>
                      <a:r>
                        <a:rPr lang="en-US" sz="1600" err="1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Optuna</a:t>
                      </a:r>
                      <a:r>
                        <a:rPr lang="en-US" sz="1600">
                          <a:solidFill>
                            <a:srgbClr val="1A1A1E"/>
                          </a:solidFill>
                          <a:latin typeface="Calibri"/>
                          <a:ea typeface="Calibri"/>
                          <a:cs typeface="Calibri"/>
                        </a:rPr>
                        <a:t>-tuned — selected model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955201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How to read it:  </a:t>
            </a: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lowest Val RMSE wins (ties broken by MAE). Replace the bracketed rows with your four other models — keep </a:t>
            </a:r>
            <a:r>
              <a:rPr lang="en-US" sz="1600" err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lang="en-US" sz="16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 as the highlighted selected model.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· FINAL MODEL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Model: CatBoost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native categorical handling; 5-fold per-fold target encoding gives an honest cross-validated estimate that matches the holdout.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PERFORMANCE (20%)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6692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3.863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566928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(CV)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271576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3.872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2715768" y="3063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RMSE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6692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2.902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MAE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271576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0.465</a:t>
            </a:r>
            <a:endParaRPr lang="en-US" sz="3000"/>
          </a:p>
        </p:txBody>
      </p:sp>
      <p:sp>
        <p:nvSpPr>
          <p:cNvPr id="14" name="Text 12"/>
          <p:cNvSpPr/>
          <p:nvPr/>
        </p:nvSpPr>
        <p:spPr>
          <a:xfrm>
            <a:off x="2715768" y="3977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R²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66928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HYPERPARAMETERS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66928" y="4855464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learning_rate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0.03 · depth 7 · l2_leaf_reg 5.0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random_strength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1.0 · </a:t>
            </a: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bagging_temperature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0.5 · </a:t>
            </a:r>
            <a:r>
              <a:rPr lang="en-US" sz="1600" err="1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border_count</a:t>
            </a: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 200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2,500 iterations, early stopping 100; predictions clipped to [6, 31].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21808" y="2240280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</a:t>
            </a:r>
            <a:endParaRPr lang="en-US" sz="1600"/>
          </a:p>
        </p:txBody>
      </p:sp>
      <p:pic>
        <p:nvPicPr>
          <p:cNvPr id="18" name="Image 0" descr="/tmp/deck/assets/res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41" y="2603729"/>
            <a:ext cx="7117606" cy="26170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5576789"/>
            <a:ext cx="63029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(3.863) and holdout RMSE (3.872) agree closely — the model is well-calibrated and not over-fit. R² of 0.465 reflects the dataset's real ceiling without grade/sub-grade.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EXPLAINABILITY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permutation importance agree with the EDA: credit quality, loan structure, and utilization drive the rate.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1911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600"/>
          </a:p>
        </p:txBody>
      </p:sp>
      <p:pic>
        <p:nvPicPr>
          <p:cNvPr id="7" name="Image 0" descr="/tmp/deck/assets/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30" y="2305099"/>
            <a:ext cx="4117374" cy="38956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36008" y="1911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600"/>
          </a:p>
        </p:txBody>
      </p:sp>
      <p:pic>
        <p:nvPicPr>
          <p:cNvPr id="9" name="Image 1" descr="/tmp/deck/assets/pe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822" y="2305099"/>
            <a:ext cx="3981842" cy="29065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3815" y="1911832"/>
            <a:ext cx="3331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600"/>
          </a:p>
        </p:txBody>
      </p:sp>
      <p:sp>
        <p:nvSpPr>
          <p:cNvPr id="11" name="Text 7"/>
          <p:cNvSpPr/>
          <p:nvPr/>
        </p:nvSpPr>
        <p:spPr>
          <a:xfrm>
            <a:off x="8576386" y="2310250"/>
            <a:ext cx="333115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dominates — a strong score is the single biggest lever on the offered rate.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Loan structure (term × DTI, loan amount) is the next driver of pricing.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/>
                <a:ea typeface="Calibri"/>
                <a:cs typeface="Calibri"/>
              </a:rPr>
              <a:t>Utilization and recent credit activity push rates up at the margin.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drivers across SHAP, permutation and gain — the model is trustworthy.</a:t>
            </a:r>
            <a:endParaRPr lang="en-US" sz="160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3" name="Text 9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CONCLUSION</a:t>
            </a:r>
            <a:r>
              <a:rPr lang="en-US" sz="1400" b="1" kern="0" spc="300">
                <a:solidFill>
                  <a:srgbClr val="C9A96E"/>
                </a:solidFill>
                <a:latin typeface="Calibri"/>
                <a:ea typeface="Calibri"/>
                <a:cs typeface="Calibri"/>
              </a:rPr>
              <a:t> · REFLECTION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 &amp; Reflection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09728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66928" y="2295144"/>
            <a:ext cx="530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 err="1">
                <a:solidFill>
                  <a:srgbClr val="E8E3D9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lang="en-US" sz="1600">
                <a:solidFill>
                  <a:srgbClr val="E8E3D9"/>
                </a:solidFill>
                <a:latin typeface="Calibri"/>
                <a:ea typeface="Calibri"/>
                <a:cs typeface="Calibri"/>
              </a:rPr>
              <a:t> predicts interest rate at RMSE 3.87 / R² 0.465 on held-out data, with CV and holdout in close agreement.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E8E3D9"/>
                </a:solidFill>
                <a:latin typeface="Calibri"/>
                <a:ea typeface="Calibri"/>
                <a:cs typeface="Calibri"/>
              </a:rPr>
              <a:t>FICO, loan term and utilization explain most of the recoverable signal once leakage is removed.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leakage handling matters more than model complexity on this slice.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324448" y="196596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324448" y="2295144"/>
            <a:ext cx="530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E8E3D9"/>
                </a:solidFill>
                <a:latin typeface="Calibri"/>
                <a:ea typeface="Calibri"/>
                <a:cs typeface="Calibri"/>
              </a:rPr>
              <a:t>Audit for leakage first — dropping loan status / grade shaped the whole problem.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Fold-internal target encoding is essential to keep the CV estimate honest.</a:t>
            </a:r>
            <a:endParaRPr lang="en-US" sz="160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60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ceiling: without grade/sub-grade, R² near 0.47 is the realistic limit, not a modeling failure.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66928" y="5715000"/>
            <a:ext cx="11057839" cy="10973"/>
          </a:xfrm>
          <a:prstGeom prst="rect">
            <a:avLst/>
          </a:prstGeom>
          <a:solidFill>
            <a:srgbClr val="5A5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submission:  </a:t>
            </a:r>
            <a:r>
              <a:rPr lang="en-US" sz="16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test RMSE-optimized · predictions clipped to [6, 31]%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Exhibits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STRUCTURE</a:t>
            </a:r>
            <a:endParaRPr lang="en-US" sz="1600"/>
          </a:p>
        </p:txBody>
      </p:sp>
      <p:pic>
        <p:nvPicPr>
          <p:cNvPr id="6" name="Image 0" descr="/tmp/deck/assets/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37" y="1892808"/>
            <a:ext cx="2406701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CATEGORY</a:t>
            </a:r>
            <a:endParaRPr lang="en-US" sz="1600"/>
          </a:p>
        </p:txBody>
      </p:sp>
      <p:pic>
        <p:nvPicPr>
          <p:cNvPr id="8" name="Image 1" descr="/tmp/deck/assets/cat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023" y="1892808"/>
            <a:ext cx="4319168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4161971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600"/>
          </a:p>
        </p:txBody>
      </p:sp>
      <p:pic>
        <p:nvPicPr>
          <p:cNvPr id="10" name="Image 2" descr="/tmp/deck/assets/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485" y="4454579"/>
            <a:ext cx="3245206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448" y="4161971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 DRIFT</a:t>
            </a:r>
            <a:endParaRPr lang="en-US" sz="1600"/>
          </a:p>
        </p:txBody>
      </p:sp>
      <p:pic>
        <p:nvPicPr>
          <p:cNvPr id="12" name="Image 3" descr="/tmp/deck/assets/dri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4454579"/>
            <a:ext cx="5300320" cy="10173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4" name="Text 8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1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 Exhibits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05840" cy="32004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WATERFALL (HIGH-RATE LOAN)</a:t>
            </a:r>
            <a:endParaRPr lang="en-US" sz="1600"/>
          </a:p>
        </p:txBody>
      </p:sp>
      <p:pic>
        <p:nvPicPr>
          <p:cNvPr id="6" name="Image 0" descr="/tmp/deck/assets/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8" y="2062141"/>
            <a:ext cx="4218141" cy="3786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4448" y="160020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GAIN (TOP 10)</a:t>
            </a:r>
            <a:endParaRPr lang="en-US" sz="1600"/>
          </a:p>
        </p:txBody>
      </p:sp>
      <p:pic>
        <p:nvPicPr>
          <p:cNvPr id="8" name="Image 1" descr="/tmp/deck/assets/g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967" y="1880713"/>
            <a:ext cx="309433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4448" y="4206240"/>
            <a:ext cx="530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(TOP 3)</a:t>
            </a:r>
            <a:endParaRPr lang="en-US" sz="1600"/>
          </a:p>
        </p:txBody>
      </p:sp>
      <p:pic>
        <p:nvPicPr>
          <p:cNvPr id="10" name="Image 2" descr="/tmp/deck/assets/pd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711" y="4474658"/>
            <a:ext cx="4841506" cy="15288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LendingClub Interest Rate Prediction · Project 1</a:t>
            </a:r>
            <a:endParaRPr lang="en-US" sz="1100"/>
          </a:p>
        </p:txBody>
      </p:sp>
      <p:sp>
        <p:nvSpPr>
          <p:cNvPr id="12" name="Text 7"/>
          <p:cNvSpPr/>
          <p:nvPr/>
        </p:nvSpPr>
        <p:spPr>
          <a:xfrm>
            <a:off x="10972800" y="6437376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B320B6-9FF8-49E3-9BF0-03F08CF3151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799195b-b6a5-4d24-8bfb-d6708f68ff8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2C8DAAF44F4499067C3125206C15" ma:contentTypeVersion="5" ma:contentTypeDescription="Create a new document." ma:contentTypeScope="" ma:versionID="ef6c8eaa99be3be393d75580fd68f678">
  <xsd:schema xmlns:xsd="http://www.w3.org/2001/XMLSchema" xmlns:xs="http://www.w3.org/2001/XMLSchema" xmlns:p="http://schemas.microsoft.com/office/2006/metadata/properties" xmlns:ns3="980ee303-15f8-4395-b6eb-0c067604e36e" targetNamespace="http://schemas.microsoft.com/office/2006/metadata/properties" ma:root="true" ma:fieldsID="39e04cc7f6d734454383029a5c5f7b9b" ns3:_="">
    <xsd:import namespace="980ee303-15f8-4395-b6eb-0c067604e36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ee303-15f8-4395-b6eb-0c067604e3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0ee303-15f8-4395-b6eb-0c067604e36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A45FC3-1D60-4DDD-B317-DD60E6F1A1D5}">
  <ds:schemaRefs>
    <ds:schemaRef ds:uri="980ee303-15f8-4395-b6eb-0c067604e3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F4FDB74-284F-458C-9A95-76400CE51FAB}">
  <ds:schemaRefs>
    <ds:schemaRef ds:uri="http://schemas.microsoft.com/office/2006/documentManagement/types"/>
    <ds:schemaRef ds:uri="http://purl.org/dc/elements/1.1/"/>
    <ds:schemaRef ds:uri="980ee303-15f8-4395-b6eb-0c067604e36e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CF9CC5-25B3-4B4B-ADE3-6594BC1927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1606</Words>
  <Application>Microsoft Office PowerPoint</Application>
  <PresentationFormat>Widescreen</PresentationFormat>
  <Paragraphs>252</Paragraphs>
  <Slides>12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LendingClub Interest Rate Prediction</dc:title>
  <dc:subject>PptxGenJS Presentation</dc:subject>
  <dc:creator>Project 1 Team</dc:creator>
  <cp:lastModifiedBy>Larry Liu</cp:lastModifiedBy>
  <cp:revision>2</cp:revision>
  <dcterms:created xsi:type="dcterms:W3CDTF">2026-06-01T01:37:01Z</dcterms:created>
  <dcterms:modified xsi:type="dcterms:W3CDTF">2026-06-01T14:50:43Z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0x0101008BE72C8DAAF44F4499067C3125206C15</vt:lpwstr>
  </property>
</Properties>
</file>