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26060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0"/>
            <a:ext cx="64008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Georgetown University  ·  Applied AI in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594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LendingClub Loan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 Prediction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12801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249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[Number]  ·  [Name 1]  ·  [Name 2]  ·  [Name 3]  ·  [Name 4]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1737360" cy="777240"/>
          </a:xfrm>
          <a:prstGeom prst="rect">
            <a:avLst/>
          </a:prstGeom>
          <a:solidFill>
            <a:srgbClr val="1426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1737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460354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4160520"/>
            <a:ext cx="1737360" cy="777240"/>
          </a:xfrm>
          <a:prstGeom prst="rect">
            <a:avLst/>
          </a:prstGeom>
          <a:solidFill>
            <a:srgbClr val="1426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4206240"/>
            <a:ext cx="1737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31720" y="460354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4160520"/>
            <a:ext cx="1737360" cy="777240"/>
          </a:xfrm>
          <a:prstGeom prst="rect">
            <a:avLst/>
          </a:prstGeom>
          <a:solidFill>
            <a:srgbClr val="1426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4206240"/>
            <a:ext cx="1737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06240" y="4603547"/>
            <a:ext cx="17373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411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868680"/>
            <a:ext cx="20116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024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56832" y="1298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int_rate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56832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56832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LendingClub 2016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5683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56832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· RF · XGBoost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56832" y="3630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56832" y="3904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(competition)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16152"/>
            <a:ext cx="5029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16152"/>
            <a:ext cx="64008" cy="356616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interest rate (int_rate) for LendingClub loan applications using only features available at origination -- before any post-funding information is known.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rate predictions improve risk pricing, reduce adverse selection, and enhance fairness for borrowers -- directly impacting lender profitability.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is a post-origination leakage variable and was dropped immediately after loading -- before any EDA or modeling step.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216152"/>
            <a:ext cx="32461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280160"/>
            <a:ext cx="324612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77840" y="1651041"/>
            <a:ext cx="32461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057400"/>
            <a:ext cx="32461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121408"/>
            <a:ext cx="324612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77840" y="2492289"/>
            <a:ext cx="32461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898648"/>
            <a:ext cx="32461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2962656"/>
            <a:ext cx="324612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77840" y="3333537"/>
            <a:ext cx="32461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(post-leakage drop)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3739896"/>
            <a:ext cx="32461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803904"/>
            <a:ext cx="324612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[X-X]%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577840" y="4174785"/>
            <a:ext cx="32461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int_rate range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34290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53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numeric columns stored as strings (dti, revol_util, all_util, etc.) -- loaded with schema_overrides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'NA' strings treated as null at read time via null_values=["NA"]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missingness flags added for mths_since_* columns (absence = no derogatory event)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nulls imputed on train fold only; learned values applied to val/test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61872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61872"/>
            <a:ext cx="64008" cy="342900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353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1856232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 parsed to numeric months (36 / 60)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emp_length: ordinal mapping (&lt; 1yr -&gt; 0, 10+ yrs -&gt; 10)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home_ownership: one-hot encoded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emp_title: dropped (high-cardinality free text); title: dropped (duplicate of purpose)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fico: averaged fico_range_low + fico_range_high into single feature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261872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261872"/>
            <a:ext cx="64008" cy="3429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353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1856232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present -- random 80/20 stratified split used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encoders and imputers fit on training fold only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params applied to validation and test sets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any cross-validation or k-fold strategy used]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Exploratory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1600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353312"/>
            <a:ext cx="1325880" cy="2103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3533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35331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 Distribution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719072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distribution shape -- e.g., roughly normal, mean ~X%, range X%-X%]. Higher rates concentrated in longer-term, higher-DTI segments.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90872" y="1261872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261872"/>
            <a:ext cx="64008" cy="160020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5512" y="1353312"/>
            <a:ext cx="1325880" cy="21031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3533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35331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FICO Score is Strongly Predictive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719072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negative correlation with int_rate. Borrowers with FICO &gt; 750 receive rates ~[X] pp lower on average than FICO &lt; 650. [Add chart placeholder or key stat].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35808"/>
            <a:ext cx="64008" cy="1600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3127248"/>
            <a:ext cx="1325880" cy="2103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31272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31272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Term &amp; Purpose Matter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3493008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[X]% of loans are [most common purpose]. 60-month loans carry rates ~[X] pp higher than 36-month loans, reflecting elevated credit risk over longer horizons.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303580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035808"/>
            <a:ext cx="64008" cy="160020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5512" y="3127248"/>
            <a:ext cx="1325880" cy="21031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25512" y="31272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1272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Missing Data Patterns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493008"/>
            <a:ext cx="3913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mths_since_* columns show up to [X]% missingness -- absence itself is informative (no derogatory record). DTI and revol_util have minimal nulls after schema fix.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 &amp;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503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61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30552" y="1261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96512" y="12618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28232" y="1261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62672" y="1261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09344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1609344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OHE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1609344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(α grid)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609344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1609344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176272"/>
            <a:ext cx="8503920" cy="566928"/>
          </a:xfrm>
          <a:prstGeom prst="rect">
            <a:avLst/>
          </a:prstGeom>
          <a:solidFill>
            <a:srgbClr val="E5EAF2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76272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48840" y="2176272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176272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(50 it.)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17627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2176272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8503920" cy="566928"/>
          </a:xfrm>
          <a:prstGeom prst="rect">
            <a:avLst/>
          </a:prstGeom>
          <a:solidFill>
            <a:srgbClr val="EBF1FB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74320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74320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★ Best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2743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categoricals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743200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(100 trials)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2743200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310128"/>
            <a:ext cx="8503920" cy="566928"/>
          </a:xfrm>
          <a:prstGeom prst="rect">
            <a:avLst/>
          </a:prstGeom>
          <a:solidFill>
            <a:srgbClr val="E5EAF2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1012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 Model 4]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48840" y="3310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331012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331012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3310128"/>
            <a:ext cx="1106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703320"/>
            <a:ext cx="26517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703320"/>
            <a:ext cx="64008" cy="9326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3767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Temporal Split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" y="405079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in this dataset slice -- random 80/20 train/val split used. All preprocessing fit on train only.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3703320"/>
            <a:ext cx="26517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703320"/>
            <a:ext cx="64008" cy="93268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3767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401568" y="405079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5-fold CV used during tuning to estimate generalisation error before final fit on full training set.]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3703320"/>
            <a:ext cx="26517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703320"/>
            <a:ext cx="64008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767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Guard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27648" y="405079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dropped before any step. Encoders/imputers fit on training fold exclusively; val/test use learned params.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 selected for final predictions and explainability analysis   |   Metric = RMSE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&amp; Explainability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16152"/>
            <a:ext cx="41148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16152"/>
            <a:ext cx="64008" cy="3611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Performance  (XGBoost)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64792"/>
            <a:ext cx="3749040" cy="548640"/>
          </a:xfrm>
          <a:prstGeom prst="rect">
            <a:avLst/>
          </a:prstGeom>
          <a:solidFill>
            <a:srgbClr val="EBF1FB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64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(validation)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764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[X.XX]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3749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(validation)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[X.XX]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081528"/>
            <a:ext cx="3749040" cy="548640"/>
          </a:xfrm>
          <a:prstGeom prst="rect">
            <a:avLst/>
          </a:prstGeom>
          <a:solidFill>
            <a:srgbClr val="EBF1FB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815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(validation)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0815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[X.XX]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9896"/>
            <a:ext cx="3749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3989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(test est.)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63240" y="37398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[X.XX]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216152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16152"/>
            <a:ext cx="64008" cy="3611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441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Techniques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755648"/>
            <a:ext cx="777240" cy="2468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556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048256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global drivers: fico_avg, loan_amnt, dti, revol_util, purpose. SHAP beeswarm shows direction -- higher FICO -&gt; lower rate (negative SHAP value).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SHAP beeswarm or bar chart here]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218688"/>
            <a:ext cx="1920240" cy="24688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2186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511296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SHAP rankings -- validates model relies on credit fundamentals, not data artifacts. [Interpret top 5 features in business terms.] 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permutation importance chart here]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0"/>
            <a:ext cx="64008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"/>
            <a:ext cx="15544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828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Takeaways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best performance (Val RMSE: [X.XX], R squared: [X.XX]) -- outperforming ridge baseline by ~[X]%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score, loan amount, and DTI are the strongest predictors across all models and explainability methods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 (dropping loan_status before any step) was critical -- including it would inflate R squared by ~[X] pp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one more team-specific finding from your results]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4892040" cy="896112"/>
          </a:xfrm>
          <a:prstGeom prst="rect">
            <a:avLst/>
          </a:prstGeom>
          <a:solidFill>
            <a:srgbClr val="0D3470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657600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033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 |  Val RMSE: [X.XX]  |  R squared: [X.XX]  |  Test Predictions: HOYA[N].csv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4892040" cy="292608"/>
          </a:xfrm>
          <a:prstGeom prst="rect">
            <a:avLst/>
          </a:prstGeom>
          <a:solidFill>
            <a:srgbClr val="14265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63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Georgetown MSBA  |  Applied AI  |  Section [X]  |  Group [X]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59552" y="228600"/>
            <a:ext cx="3493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59552" y="1143000"/>
            <a:ext cx="3401568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1261872"/>
            <a:ext cx="349300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detection must happen before EDA -- loan_status would have contaminated all insights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enforcement at read time saved hours of downstream debugging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patterns encode real signal -- do not impute blindly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beats GridSearch for high-dimensional tuning under time pressure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 team-specific lesson here]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-- Detailed Parameters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352044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 5-fold CV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901952"/>
            <a:ext cx="24231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grid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0.01  0.1  1  10  100  1000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715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236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557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 squared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758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4078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model; fast to fit. Establishes lower bound for comparison.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261872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261872"/>
            <a:ext cx="64008" cy="3520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01568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 50 iters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1901952"/>
            <a:ext cx="24231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[100-500] -&gt; best [X]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2715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[None, 10, 20] -&gt; best [X]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01568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3236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[2-10] -&gt; best [X]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1568" y="3557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1568" y="3758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['sqrt', 'log2'] -&gt; best [X]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4078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 / R sq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01568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 / [X.XX]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1261872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1261872"/>
            <a:ext cx="64008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(Best)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0216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 100 trials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0216" y="1901952"/>
            <a:ext cx="24231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0216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0216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[3-10] -&gt; best [X]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0216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0216" y="2715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[0.01-0.3] -&gt; best [X]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0216" y="30358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0216" y="3236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[100-1000] -&gt; best [X]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0216" y="3557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0216" y="3758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[0.6-1.0] -&gt; best [X]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0216" y="4078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 / R sq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021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 / [X.XX]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Loan Interest Rate Prediction</dc:title>
  <dc:subject>PptxGenJS Presentation</dc:subject>
  <dc:creator>PptxGenJS</dc:creator>
  <cp:lastModifiedBy>PptxGenJS</cp:lastModifiedBy>
  <cp:revision>1</cp:revision>
  <dcterms:created xsi:type="dcterms:W3CDTF">2026-05-25T16:36:32Z</dcterms:created>
  <dcterms:modified xsi:type="dcterms:W3CDTF">2026-05-25T16:36:32Z</dcterms:modified>
</cp:coreProperties>
</file>