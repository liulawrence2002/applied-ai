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3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MACHINE LEARNING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19659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Predicting LendingClub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Loan Interest Rates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66928" y="3639312"/>
            <a:ext cx="128016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38404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D8D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Application-time prediction of int_rate — exploratory analysis, model comparison, and explainability on 100,000 loans.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" y="4754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LOANS  ·  38 FEATURES  ·  BEST RMSE 3.87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5577840"/>
            <a:ext cx="11057839" cy="10973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574243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[Course / Section]     </a:t>
            </a:r>
            <a:pPr indent="0" marL="0">
              <a:buNone/>
            </a:pPr>
            <a:r>
              <a:rPr lang="en-US" sz="17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SAXA 8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66928" y="608990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member names]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PROBLEM FRAMING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 &amp; Problem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the interest rate a LendingClub loan would be offered, using only information available at the moment of application.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249424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2596896"/>
            <a:ext cx="530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int_rate (loan APR, %) for 10,000 held-out applications and minimize test-set RMSE.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ranges 6.46–30.99%, mean 12.95, right-skewed (skew 0.85).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regression on tabular application data — no time series, no text scoring.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24448" y="2249424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&amp; GUARDRAILS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24448" y="2596896"/>
            <a:ext cx="530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loan_status is post-origination leakage and is dropped before any modeling.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/ sub_grade / installment are absent from this slice — no shortcut to APR.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date columns exist, so validation uses a random 80/20 split, not a temporal one.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6928" y="4828032"/>
            <a:ext cx="11057839" cy="10973"/>
          </a:xfrm>
          <a:prstGeom prst="rect">
            <a:avLst/>
          </a:prstGeom>
          <a:solidFill>
            <a:srgbClr val="E5E0D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49560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5303520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100,000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66928" y="5815584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loans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78496" y="5303520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10,000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78496" y="5815584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loans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90064" y="5303520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990064" y="5815584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features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01632" y="5303520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6.46–31%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201632" y="5815584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range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13199" y="5303520"/>
            <a:ext cx="212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12.95%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413199" y="5815584"/>
            <a:ext cx="212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rate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· PREPARING THE DATA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Turning Applications Into Useful Signals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translate each raw loan application into 36 consistent, comparable measures — applied the same way to every applicant, and never using the answer we are trying to predict.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048256"/>
            <a:ext cx="3503066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CLEAN UP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quirks; remove unfair hints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4314" y="2048256"/>
            <a:ext cx="3503066" cy="6766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0618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BUILD MEASURES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90618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clear, comparable indicators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1701" y="2048256"/>
            <a:ext cx="3503066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8005" y="2112264"/>
            <a:ext cx="3228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STRESS-TEST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68005" y="2404872"/>
            <a:ext cx="32287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 applicants it never saw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7008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strength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score, score tier, and loan length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cleaner read on each borrower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38218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38218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24" name="Shape 22"/>
          <p:cNvSpPr/>
          <p:nvPr/>
        </p:nvSpPr>
        <p:spPr>
          <a:xfrm>
            <a:off x="4502810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5" name="Text 23"/>
          <p:cNvSpPr/>
          <p:nvPr/>
        </p:nvSpPr>
        <p:spPr>
          <a:xfrm>
            <a:off x="450281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978298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they afford it?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02810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size and debt compared to income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02810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Weighs borrowing against earnings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09509" y="2834640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09509" y="2834640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274101" y="2971800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32" name="Text 30"/>
          <p:cNvSpPr/>
          <p:nvPr/>
        </p:nvSpPr>
        <p:spPr>
          <a:xfrm>
            <a:off x="8274101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749589" y="2953512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groupings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274101" y="3401568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and credit-use tiers; extreme values smoothed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4101" y="3822192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Sorts borrowers; tames outliers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20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207008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effects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31520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score, debt, and loan length work together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1520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risk visible only in combination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338218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38218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45" name="Shape 43"/>
          <p:cNvSpPr/>
          <p:nvPr/>
        </p:nvSpPr>
        <p:spPr>
          <a:xfrm>
            <a:off x="4502810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46" name="Text 44"/>
          <p:cNvSpPr/>
          <p:nvPr/>
        </p:nvSpPr>
        <p:spPr>
          <a:xfrm>
            <a:off x="450281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4978298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history gaps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502810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issues, credit-file age, missing records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4502810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what is missing as meaningful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09509" y="4370832"/>
            <a:ext cx="351525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09509" y="4370832"/>
            <a:ext cx="54864" cy="1389888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2" name="Shape 50"/>
          <p:cNvSpPr/>
          <p:nvPr/>
        </p:nvSpPr>
        <p:spPr>
          <a:xfrm>
            <a:off x="8274101" y="4507992"/>
            <a:ext cx="384048" cy="384048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53" name="Text 51"/>
          <p:cNvSpPr/>
          <p:nvPr/>
        </p:nvSpPr>
        <p:spPr>
          <a:xfrm>
            <a:off x="8274101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8749589" y="4489704"/>
            <a:ext cx="27471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&amp; purpose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74101" y="4937760"/>
            <a:ext cx="320436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state, ZIP region, and reason for the loan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274101" y="5358384"/>
            <a:ext cx="32043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i="1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local patterns without unfair hints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566928" y="5852160"/>
            <a:ext cx="10234879" cy="457200"/>
          </a:xfrm>
          <a:prstGeom prst="rect">
            <a:avLst/>
          </a:prstGeom>
          <a:solidFill>
            <a:srgbClr val="EFE7D5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852160"/>
            <a:ext cx="9914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Safeguards: We remove anything that would not be known when someone applies, and every measure is built without using the outcome — so the results stay fair and trustworthy.</a:t>
            </a:r>
            <a:pPr indent="0" marL="0">
              <a:lnSpc>
                <a:spcPct val="95000"/>
              </a:lnSpc>
              <a:buNone/>
            </a:pP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· EXPLORATORY DATA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Data Says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is the dominant application-time signal; utilization, DTI and loan term carry most of the remaining recoverable variance.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121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2487168"/>
            <a:ext cx="4114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↔ rate: Spearman −0.46 — higher score, lower APR.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next: all_util +0.33, revol_util +0.30; DTI +0.18.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60-month term and small-business / educational purposes price higher.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mths_since_last_record is 90.9% missing — "no record" is signal.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loans are smaller (loan_amnt PSI 0.17), slightly higher FICO.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38928" y="2121408"/>
            <a:ext cx="6485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vs INTEREST RATE</a:t>
            </a:r>
            <a:endParaRPr lang="en-US" sz="1600" dirty="0"/>
          </a:p>
        </p:txBody>
      </p:sp>
      <p:pic>
        <p:nvPicPr>
          <p:cNvPr id="9" name="Image 0" descr="/tmp/deck/assets/fi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6967" y="2432304"/>
            <a:ext cx="4029761" cy="17830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138928" y="4370832"/>
            <a:ext cx="6485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DISTRIBUTION</a:t>
            </a:r>
            <a:endParaRPr lang="en-US" sz="1600" dirty="0"/>
          </a:p>
        </p:txBody>
      </p:sp>
      <p:pic>
        <p:nvPicPr>
          <p:cNvPr id="11" name="Image 1" descr="/tmp/deck/assets/targe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591" y="4681728"/>
            <a:ext cx="3564514" cy="1627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· COMPARISON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Models, One Winner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models were trained on the same data and the same 80/20 split. Cross-validation error (CV RMSE) is the one score recorded for every model — CatBoost posts the lowest and is the model we submitted.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pic>
        <p:nvPicPr>
          <p:cNvPr id="9" name="Picture 8" descr="cvrmse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00" y="2560000"/>
            <a:ext cx="5850000" cy="3766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00000" y="2560000"/>
          <a:ext cx="5024767" cy="27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0000"/>
                <a:gridCol w="920000"/>
                <a:gridCol w="900000"/>
                <a:gridCol w="860000"/>
                <a:gridCol w="784767"/>
              </a:tblGrid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80000" marR="60000" marT="20000" marB="20000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CV RMSE</a:t>
                      </a:r>
                    </a:p>
                  </a:txBody>
                  <a:tcPr anchor="ctr" marL="80000" marR="60000" marT="20000" marB="20000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 RMSE</a:t>
                      </a:r>
                    </a:p>
                  </a:txBody>
                  <a:tcPr anchor="ctr" marL="80000" marR="60000" marT="20000" marB="20000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 MAE</a:t>
                      </a:r>
                    </a:p>
                  </a:txBody>
                  <a:tcPr anchor="ctr" marL="80000" marR="60000" marT="20000" marB="20000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 R²</a:t>
                      </a:r>
                    </a:p>
                  </a:txBody>
                  <a:tcPr anchor="ctr" marL="80000" marR="60000" marT="20000" marB="20000">
                    <a:solidFill>
                      <a:srgbClr val="333333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4.2781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4.0723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4.019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3.007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0.410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3.867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2.955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Neural Net (MLP)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5.101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E6A5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E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 anchor="ctr" marL="80000" marR="60000" marT="20000" marB="20000">
                    <a:solidFill>
                      <a:srgbClr val="F7F4EC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E"/>
                          </a:solidFill>
                          <a:latin typeface="Calibri"/>
                        </a:rPr>
                        <a:t>CatBoost (final)</a:t>
                      </a:r>
                    </a:p>
                  </a:txBody>
                  <a:tcPr anchor="ctr" marL="80000" marR="60000" marT="20000" marB="20000"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9A96E"/>
                          </a:solidFill>
                          <a:latin typeface="Calibri"/>
                        </a:rPr>
                        <a:t>3.863</a:t>
                      </a:r>
                    </a:p>
                  </a:txBody>
                  <a:tcPr anchor="ctr" marL="80000" marR="60000" marT="20000" marB="20000"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9A96E"/>
                          </a:solidFill>
                          <a:latin typeface="Calibri"/>
                        </a:rPr>
                        <a:t>3.872</a:t>
                      </a:r>
                    </a:p>
                  </a:txBody>
                  <a:tcPr anchor="ctr" marL="80000" marR="60000" marT="20000" marB="20000"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E"/>
                          </a:solidFill>
                          <a:latin typeface="Calibri"/>
                        </a:rPr>
                        <a:t>2.902</a:t>
                      </a:r>
                    </a:p>
                  </a:txBody>
                  <a:tcPr anchor="ctr" marL="80000" marR="60000" marT="20000" marB="20000">
                    <a:solidFill>
                      <a:srgbClr val="EFE7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E"/>
                          </a:solidFill>
                          <a:latin typeface="Calibri"/>
                        </a:rPr>
                        <a:t>0.465</a:t>
                      </a:r>
                    </a:p>
                  </a:txBody>
                  <a:tcPr anchor="ctr" marL="80000" marR="60000" marT="20000" marB="20000">
                    <a:solidFill>
                      <a:srgbClr val="EFE7D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00000" y="5430000"/>
            <a:ext cx="5024767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C9A96E"/>
                </a:solidFill>
                <a:latin typeface="Calibri"/>
              </a:rPr>
              <a:t>✓  </a:t>
            </a:r>
            <a:r>
              <a:rPr sz="1150" b="1">
                <a:solidFill>
                  <a:srgbClr val="1A1A1E"/>
                </a:solidFill>
                <a:latin typeface="Calibri"/>
              </a:rPr>
              <a:t>CatBoost edges XGBoost</a:t>
            </a:r>
            <a:r>
              <a:rPr sz="1150" b="0">
                <a:solidFill>
                  <a:srgbClr val="6E6A5C"/>
                </a:solidFill>
                <a:latin typeface="Calibri"/>
              </a:rPr>
              <a:t> and its cross-check (3.86) matches the hold-out (3.87) — not overfit.</a:t>
            </a:r>
          </a:p>
          <a:p>
            <a:r>
              <a:rPr sz="950" i="1">
                <a:solidFill>
                  <a:srgbClr val="6E6A5C"/>
                </a:solidFill>
                <a:latin typeface="Calibri"/>
              </a:rPr>
              <a:t>—  = metric not recorded for that model.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· FINAL MODEL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Final Model: CatBoost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with native categorical handling; 5-fold per-fold target encoding gives an honest cross-validated estimate that matches the holdout.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2494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PERFORMANCE (20%)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263347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3.863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66928" y="30906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RMSE (CV)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15768" y="263347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3.872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15768" y="30906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RMSE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2.902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40233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MAE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15768" y="3566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9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0.465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715768" y="40233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R²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928" y="46268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HYPERPARAMETERS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" y="4974336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 0.03 · depth 7 · l2_leaf_reg 5.0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random_strength 1.0 · bagging_temp 0.5 · border_count 200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iterations, early stopping 100; preds clipped to [6, 31].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21808" y="2249424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DIAGNOSTICS</a:t>
            </a:r>
            <a:endParaRPr lang="en-US" sz="1600" dirty="0"/>
          </a:p>
        </p:txBody>
      </p:sp>
      <p:pic>
        <p:nvPicPr>
          <p:cNvPr id="18" name="Image 0" descr="/tmp/deck/assets/res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6976" y="2560320"/>
            <a:ext cx="4992624" cy="17830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321808" y="4535424"/>
            <a:ext cx="630295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RMSE (3.863) and holdout RMSE (3.872) agree closely — the model is well-calibrated and not over-fit. R² of 0.465 reflects the dataset's real ceiling without grade / sub-grade.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EXPLAINABILITY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the Model Decides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17904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agree with the EDA: SHAP values and permutation importance both rank credit quality, loan structure and utilization at the top.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304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SUMMARY</a:t>
            </a:r>
            <a:endParaRPr lang="en-US" sz="1600" dirty="0"/>
          </a:p>
        </p:txBody>
      </p:sp>
      <p:pic>
        <p:nvPicPr>
          <p:cNvPr id="7" name="Image 0" descr="/tmp/deck/assets/s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633472"/>
            <a:ext cx="3456432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36008" y="2304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</a:t>
            </a:r>
            <a:endParaRPr lang="en-US" sz="1600" dirty="0"/>
          </a:p>
        </p:txBody>
      </p:sp>
      <p:pic>
        <p:nvPicPr>
          <p:cNvPr id="9" name="Image 1" descr="/tmp/deck/assets/pe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633472"/>
            <a:ext cx="3200400" cy="22697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47888" y="2304288"/>
            <a:ext cx="3376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47888" y="2651760"/>
            <a:ext cx="337687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dominates — a strong score is the single biggest lever on the offered rate.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structure (term × DTI, loan_amnt) is the next driver of pricing.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&amp; recent credit activity push rates up at the margin.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drivers across SHAP, permutation &amp; gain — the model is trustworthy.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33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· REFLECTION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Conclusion &amp; Reflection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109728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201168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5300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predicts int_rate at RMSE 3.87 / R² 0.465 on held-out data, with CV and holdout in close agreement.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FICO, loan term and utilization explain most of the recoverable signal once leakage is removed.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Disciplined leakage handling matters more than model complexity on this slice.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324448" y="2011680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24448" y="2377440"/>
            <a:ext cx="5300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for leakage first — dropping loan_status / grade shaped the whole problem.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Fold-internal target encoding is essential to keep the CV estimate honest.</a:t>
            </a:r>
            <a:endParaRPr lang="en-US" sz="1600" dirty="0"/>
          </a:p>
          <a:p>
            <a:pPr marL="203200" indent="-2032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8E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ceiling: without grade/sub-grade, R² near 0.47 is the realistic limit, not a modeling failure.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5669280"/>
            <a:ext cx="11057839" cy="10973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7044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submission:  </a:t>
            </a:r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· test RMSE-optimized · predictions clipped to [6, 31]%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EDA Exhibits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STRUCTURE</a:t>
            </a:r>
            <a:endParaRPr lang="en-US" sz="1600" dirty="0"/>
          </a:p>
        </p:txBody>
      </p:sp>
      <p:pic>
        <p:nvPicPr>
          <p:cNvPr id="6" name="Image 0" descr="/tmp/deck/assets/co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9341" y="1938528"/>
            <a:ext cx="2355494" cy="2103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24448" y="16276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BY CATEGORY</a:t>
            </a:r>
            <a:endParaRPr lang="en-US" sz="1600" dirty="0"/>
          </a:p>
        </p:txBody>
      </p:sp>
      <p:pic>
        <p:nvPicPr>
          <p:cNvPr id="8" name="Image 1" descr="/tmp/deck/assets/cat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972" y="1938528"/>
            <a:ext cx="4227271" cy="21031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43708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(TOP COLUMNS)</a:t>
            </a:r>
            <a:endParaRPr lang="en-US" sz="1600" dirty="0"/>
          </a:p>
        </p:txBody>
      </p:sp>
      <p:pic>
        <p:nvPicPr>
          <p:cNvPr id="10" name="Image 2" descr="/tmp/deck/assets/miss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18" y="4681728"/>
            <a:ext cx="3167939" cy="18745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324448" y="43708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vs TEST DRIFT</a:t>
            </a:r>
            <a:endParaRPr lang="en-US" sz="1600" dirty="0"/>
          </a:p>
        </p:txBody>
      </p:sp>
      <p:pic>
        <p:nvPicPr>
          <p:cNvPr id="12" name="Image 3" descr="/tmp/deck/assets/dri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448" y="4681728"/>
            <a:ext cx="5300320" cy="101733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Explainability Exhibits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005840" cy="36576"/>
          </a:xfrm>
          <a:prstGeom prst="rect">
            <a:avLst/>
          </a:prstGeom>
          <a:solidFill>
            <a:srgbClr val="C9A96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WATERFALL (HIGH-RATE LOAN)</a:t>
            </a:r>
            <a:endParaRPr lang="en-US" sz="1600" dirty="0"/>
          </a:p>
        </p:txBody>
      </p:sp>
      <p:pic>
        <p:nvPicPr>
          <p:cNvPr id="6" name="Image 0" descr="/tmp/deck/asset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452" y="1938528"/>
            <a:ext cx="3319272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324448" y="162763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 GAIN (TOP 10)</a:t>
            </a:r>
            <a:endParaRPr lang="en-US" sz="1600" dirty="0"/>
          </a:p>
        </p:txBody>
      </p:sp>
      <p:pic>
        <p:nvPicPr>
          <p:cNvPr id="8" name="Image 1" descr="/tmp/deck/assets/g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908" y="1938528"/>
            <a:ext cx="2965399" cy="21031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24448" y="4187952"/>
            <a:ext cx="530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DEPENDENCE (TOP 3)</a:t>
            </a:r>
            <a:endParaRPr lang="en-US" sz="1600" dirty="0"/>
          </a:p>
        </p:txBody>
      </p:sp>
      <p:pic>
        <p:nvPicPr>
          <p:cNvPr id="10" name="Image 2" descr="/tmp/deck/assets/pd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473" y="4498848"/>
            <a:ext cx="4430268" cy="1371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0" y="6364224"/>
            <a:ext cx="649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6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LendingClub Interest Rate Prediction</dc:title>
  <dc:subject>PptxGenJS Presentation</dc:subject>
  <dc:creator>Project 1 — Group SAXA 8</dc:creator>
  <cp:lastModifiedBy>Project 1 — Group SAXA 8</cp:lastModifiedBy>
  <cp:revision>1</cp:revision>
  <dcterms:created xsi:type="dcterms:W3CDTF">2026-06-01T03:57:25Z</dcterms:created>
  <dcterms:modified xsi:type="dcterms:W3CDTF">2026-06-01T03:57:25Z</dcterms:modified>
</cp:coreProperties>
</file>