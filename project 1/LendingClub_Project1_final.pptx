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· MACHINE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196596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Predicting LendingClub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Loan Interest Rates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66928" y="3639312"/>
            <a:ext cx="128016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38404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Application-time prediction of int_rate — exploratory analysis, model comparison, and explainability on 100,000 loans.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4754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LOANS  ·  38 FEATURES  ·  BEST RMSE 3.87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5577840"/>
            <a:ext cx="11057839" cy="10973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574243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[Course / Section]     </a:t>
            </a:r>
            <a:pPr indent="0" marL="0">
              <a:buNone/>
            </a:pPr>
            <a:r>
              <a:rPr lang="en-US" sz="17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SAXA 8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66928" y="608990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names]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· PROBLEM FRAMING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 &amp;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interest rate a LendingClub loan would be offered, using only information available at the moment of application.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249424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596896"/>
            <a:ext cx="530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int_rate (loan APR, %) for 10,000 held-out applications and minimize test-set RMSE.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ranges 6.46–30.99%, mean 12.95, right-skewed (skew 0.85).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regression on tabular application data — no time series, no text scoring.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24448" y="2249424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GUARDRAILS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24448" y="2596896"/>
            <a:ext cx="530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loan_status is post-origination leakage and is dropped before any modeling.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/ sub_grade / installment are absent from this slice — no shortcut to APR.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date columns exist, so validation uses a random 80/20 split, not a temporal one.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4828032"/>
            <a:ext cx="11057839" cy="10973"/>
          </a:xfrm>
          <a:prstGeom prst="rect">
            <a:avLst/>
          </a:prstGeom>
          <a:solidFill>
            <a:srgbClr val="E5E0D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956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" y="5303520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100,000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66928" y="5815584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loans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78496" y="5303520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10,000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778496" y="5815584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loans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90064" y="5303520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990064" y="5815584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features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01632" y="5303520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6.46–31%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201632" y="5815584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range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13199" y="5303520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12.95%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413199" y="5815584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rate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DATA PREP &amp; FEATURES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stateless pipeline turns raw application fields into 36 model-ready features, identically on train and test, keeping target information out of every fold.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048256"/>
            <a:ext cx="350306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112264"/>
            <a:ext cx="3228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DATA PREP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2404872"/>
            <a:ext cx="32287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NA numerics; drop leakage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4314" y="2048256"/>
            <a:ext cx="3503066" cy="67665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0618" y="2112264"/>
            <a:ext cx="3228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FEATURE ENGINEERING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90618" y="2404872"/>
            <a:ext cx="32287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stateless + 4 fold-safe encodings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1701" y="2048256"/>
            <a:ext cx="350306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8005" y="2112264"/>
            <a:ext cx="3228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VALIDATION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68005" y="2404872"/>
            <a:ext cx="32287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holdout + 5-fold CV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6928" y="2834640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834640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971800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07008" y="2953512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quality &amp; recodes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3401568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fico, fico_band, term_months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822192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collinearity; adds geography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38218" y="2834640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8218" y="2834640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4" name="Shape 22"/>
          <p:cNvSpPr/>
          <p:nvPr/>
        </p:nvSpPr>
        <p:spPr>
          <a:xfrm>
            <a:off x="4502810" y="2971800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5" name="Text 23"/>
          <p:cNvSpPr/>
          <p:nvPr/>
        </p:nvSpPr>
        <p:spPr>
          <a:xfrm>
            <a:off x="450281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978298" y="2953512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ratios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02810" y="3401568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loan_to_income, bal_to_income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02810" y="3822192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credit to ability to pay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09509" y="2834640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09509" y="2834640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1" name="Shape 29"/>
          <p:cNvSpPr/>
          <p:nvPr/>
        </p:nvSpPr>
        <p:spPr>
          <a:xfrm>
            <a:off x="8274101" y="2971800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32" name="Text 30"/>
          <p:cNvSpPr/>
          <p:nvPr/>
        </p:nvSpPr>
        <p:spPr>
          <a:xfrm>
            <a:off x="8274101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749589" y="2953512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&amp; log tails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74101" y="3401568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/ util bands, log1p tails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74101" y="3822192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nonlinear risk; cuts skew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6928" y="4370832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370832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520" y="4507992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207008" y="4489704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1520" y="4937760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term_x_dti, fico_x_term, util_x_fico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31520" y="5358384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quality × loan structure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338218" y="4370832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38218" y="4370832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45" name="Shape 43"/>
          <p:cNvSpPr/>
          <p:nvPr/>
        </p:nvSpPr>
        <p:spPr>
          <a:xfrm>
            <a:off x="4502810" y="4507992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46" name="Text 44"/>
          <p:cNvSpPr/>
          <p:nvPr/>
        </p:nvSpPr>
        <p:spPr>
          <a:xfrm>
            <a:off x="450281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4978298" y="4489704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&amp; history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502810" y="4937760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has_* flags, derog_score, file_age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502810" y="5358384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missing events as signal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109509" y="4370832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09509" y="4370832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2" name="Shape 50"/>
          <p:cNvSpPr/>
          <p:nvPr/>
        </p:nvSpPr>
        <p:spPr>
          <a:xfrm>
            <a:off x="8274101" y="4507992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53" name="Text 51"/>
          <p:cNvSpPr/>
          <p:nvPr/>
        </p:nvSpPr>
        <p:spPr>
          <a:xfrm>
            <a:off x="8274101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8749589" y="4489704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encodings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274101" y="4937760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addr_state_te, purpose_te, zip3_te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274101" y="5358384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Out-of-fold high-cardinality signal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66928" y="5852160"/>
            <a:ext cx="10234879" cy="457200"/>
          </a:xfrm>
          <a:prstGeom prst="rect">
            <a:avLst/>
          </a:prstGeom>
          <a:solidFill>
            <a:srgbClr val="EFE7D5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1520" y="5852160"/>
            <a:ext cx="9914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 </a:t>
            </a:r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loan_status dropped before modeling; encodings fit inside folds; raw FICO bounds, term, emp_length, title &amp; zip replaced by engineered forms.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EXPLORATORY DATA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 Data Says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is the dominant application-time signal; utilization, DTI and loan term carry most of the remaining recoverable variance.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121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487168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↔ rate: Spearman −0.46 — higher score, lower APR.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next: all_util +0.33, revol_util +0.30; DTI +0.18.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60-month term and small-business / educational purposes price higher.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mths_since_last_record is 90.9% missing — "no record" is signal.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loans are smaller (loan_amnt PSI 0.17), slightly higher FICO.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38928" y="2121408"/>
            <a:ext cx="6485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vs INTEREST RATE</a:t>
            </a:r>
            <a:endParaRPr lang="en-US" sz="1600" dirty="0"/>
          </a:p>
        </p:txBody>
      </p:sp>
      <p:pic>
        <p:nvPicPr>
          <p:cNvPr id="9" name="Image 0" descr="/tmp/deck/assets/fi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6967" y="2432304"/>
            <a:ext cx="4029761" cy="1783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38928" y="4370832"/>
            <a:ext cx="6485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</a:t>
            </a:r>
            <a:endParaRPr lang="en-US" sz="1600" dirty="0"/>
          </a:p>
        </p:txBody>
      </p:sp>
      <p:pic>
        <p:nvPicPr>
          <p:cNvPr id="11" name="Image 1" descr="/tmp/deck/assets/targe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591" y="4681728"/>
            <a:ext cx="3564514" cy="16276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· 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Models, One Winner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families share the same engineered features and 80/20 split. CatBoost gives the lowest validation RMSE and is the submitted model.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31720"/>
          <a:ext cx="11057839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417320"/>
                <a:gridCol w="1463040"/>
                <a:gridCol w="1371600"/>
                <a:gridCol w="1280160"/>
                <a:gridCol w="305409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RMSE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RMSE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MAE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R²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Single-tree baseline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4.072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4.019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Bagged trees; slight overfit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[ 5th model 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 (MLP)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 fold; rejected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  (final)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9A9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3.863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9A9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3.872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2.902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Optuna-tuned — selected 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05332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ensembles beat the single-tree and neural-net baselines; CatBoost wins on validation RMSE (3.87) and MAE (2.90) and is used for the test-set submission.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· FINAL MODEL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Final Model: CatBoost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with native categorical handling; 5-fold per-fold target encoding gives an honest cross-validated estimate that matches the holdout.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2494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PERFORMANCE (20%)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6334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3.863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30906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RMSE (CV)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15768" y="26334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3.872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15768" y="30906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RMSE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" y="3566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2.902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4023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MAE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15768" y="3566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0.465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715768" y="4023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46268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HYPERPARAMETERS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6928" y="4974336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 0.03 · depth 7 · l2_leaf_reg 5.0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random_strength 1.0 · bagging_temp 0.5 · border_count 200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iterations, early stopping 100; preds clipped to [6, 31].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21808" y="2249424"/>
            <a:ext cx="6302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DIAGNOSTICS</a:t>
            </a:r>
            <a:endParaRPr lang="en-US" sz="1600" dirty="0"/>
          </a:p>
        </p:txBody>
      </p:sp>
      <p:pic>
        <p:nvPicPr>
          <p:cNvPr id="18" name="Image 0" descr="/tmp/deck/assets/res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6976" y="2560320"/>
            <a:ext cx="4992624" cy="17830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321808" y="4535424"/>
            <a:ext cx="63029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RMSE (3.863) and holdout RMSE (3.872) agree closely — the model is well-calibrated and not over-fit. R² of 0.465 reflects the dataset's real ceiling without grade / sub-grade.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· EXPLAINABILITY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the Model Decides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techniques agree with the EDA: SHAP values and permutation importance both rank credit quality, loan structure and utilization at the top.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SUMMARY</a:t>
            </a:r>
            <a:endParaRPr lang="en-US" sz="1600" dirty="0"/>
          </a:p>
        </p:txBody>
      </p:sp>
      <p:pic>
        <p:nvPicPr>
          <p:cNvPr id="7" name="Image 0" descr="/tmp/deck/assets/sh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633472"/>
            <a:ext cx="3456432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36008" y="2304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</a:t>
            </a:r>
            <a:endParaRPr lang="en-US" sz="1600" dirty="0"/>
          </a:p>
        </p:txBody>
      </p:sp>
      <p:pic>
        <p:nvPicPr>
          <p:cNvPr id="9" name="Image 1" descr="/tmp/deck/assets/pe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633472"/>
            <a:ext cx="3200400" cy="22697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47888" y="2304288"/>
            <a:ext cx="3376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47888" y="2651760"/>
            <a:ext cx="337687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dominates — a strong score is the single biggest lever on the offered rate.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structure (term × DTI, loan_amnt) is the next driver of pricing.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&amp; recent credit activity push rates up at the margin.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drivers across SHAP, permutation &amp; gain — the model is trustworthy.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· REFLECTION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Conclusion &amp; Reflection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109728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011680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377440"/>
            <a:ext cx="5300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predicts int_rate at RMSE 3.87 / R² 0.465 on held-out data, with CV and holdout in close agreement.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FICO, loan term and utilization explain most of the recoverable signal once leakage is removed.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 leakage handling matters more than model complexity on this slice.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24448" y="2011680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24448" y="2377440"/>
            <a:ext cx="5300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for leakage first — dropping loan_status / grade shaped the whole problem.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Fold-internal target encoding is essential to keep the CV estimate honest.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ceiling: without grade/sub-grade, R² near 0.47 is the realistic limit, not a modeling failure.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5669280"/>
            <a:ext cx="11057839" cy="10973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submission:  </a:t>
            </a:r>
            <a:pPr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· test RMSE-optimized · predictions clipped to [6, 31]%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EDA Exhibits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2763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STRUCTURE</a:t>
            </a:r>
            <a:endParaRPr lang="en-US" sz="1600" dirty="0"/>
          </a:p>
        </p:txBody>
      </p:sp>
      <p:pic>
        <p:nvPicPr>
          <p:cNvPr id="6" name="Image 0" descr="/tmp/deck/assets/co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9341" y="1938528"/>
            <a:ext cx="2355494" cy="2103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24448" y="162763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BY CATEGORY</a:t>
            </a:r>
            <a:endParaRPr lang="en-US" sz="1600" dirty="0"/>
          </a:p>
        </p:txBody>
      </p:sp>
      <p:pic>
        <p:nvPicPr>
          <p:cNvPr id="8" name="Image 1" descr="/tmp/deck/assets/cat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972" y="1938528"/>
            <a:ext cx="4227271" cy="2103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437083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(TOP COLUMNS)</a:t>
            </a:r>
            <a:endParaRPr lang="en-US" sz="1600" dirty="0"/>
          </a:p>
        </p:txBody>
      </p:sp>
      <p:pic>
        <p:nvPicPr>
          <p:cNvPr id="10" name="Image 2" descr="/tmp/deck/assets/miss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118" y="4681728"/>
            <a:ext cx="3167939" cy="18745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24448" y="437083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vs TEST DRIFT</a:t>
            </a:r>
            <a:endParaRPr lang="en-US" sz="1600" dirty="0"/>
          </a:p>
        </p:txBody>
      </p:sp>
      <p:pic>
        <p:nvPicPr>
          <p:cNvPr id="12" name="Image 3" descr="/tmp/deck/assets/dri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8" y="4681728"/>
            <a:ext cx="5300320" cy="101733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Explainability Exhibits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2763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 (HIGH-RATE LOAN)</a:t>
            </a:r>
            <a:endParaRPr lang="en-US" sz="1600" dirty="0"/>
          </a:p>
        </p:txBody>
      </p:sp>
      <p:pic>
        <p:nvPicPr>
          <p:cNvPr id="6" name="Image 0" descr="/tmp/deck/assets/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452" y="1938528"/>
            <a:ext cx="3319272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24448" y="162763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GAIN (TOP 10)</a:t>
            </a:r>
            <a:endParaRPr lang="en-US" sz="1600" dirty="0"/>
          </a:p>
        </p:txBody>
      </p:sp>
      <p:pic>
        <p:nvPicPr>
          <p:cNvPr id="8" name="Image 1" descr="/tmp/deck/assets/g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908" y="1938528"/>
            <a:ext cx="2965399" cy="2103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24448" y="418795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DEPENDENCE (TOP 3)</a:t>
            </a:r>
            <a:endParaRPr lang="en-US" sz="1600" dirty="0"/>
          </a:p>
        </p:txBody>
      </p:sp>
      <p:pic>
        <p:nvPicPr>
          <p:cNvPr id="10" name="Image 2" descr="/tmp/deck/assets/pd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473" y="4498848"/>
            <a:ext cx="4430268" cy="1371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LendingClub Interest Rate Prediction</dc:title>
  <dc:subject>PptxGenJS Presentation</dc:subject>
  <dc:creator>Project 1 — Group SAXA 8</dc:creator>
  <cp:lastModifiedBy>Project 1 — Group SAXA 8</cp:lastModifiedBy>
  <cp:revision>1</cp:revision>
  <dcterms:created xsi:type="dcterms:W3CDTF">2026-06-01T03:57:25Z</dcterms:created>
  <dcterms:modified xsi:type="dcterms:W3CDTF">2026-06-01T03:57:25Z</dcterms:modified>
</cp:coreProperties>
</file>