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Georgetown University   ·   Applied AI in Business   ·   Project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8046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LendingClub Loan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CADCFC"/>
                </a:solidFill>
                <a:latin typeface="Cambria"/>
              </a:rPr>
              <a:t>Interest Rate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Comparing five model families and blending the two best tree-based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783080" cy="777240"/>
          </a:xfrm>
          <a:prstGeom prst="rect">
            <a:avLst/>
          </a:prstGeom>
          <a:solidFill>
            <a:srgbClr val="2A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10128"/>
            <a:ext cx="17830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100K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12463"/>
            <a:ext cx="1783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Training loans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246120"/>
            <a:ext cx="1783080" cy="777240"/>
          </a:xfrm>
          <a:prstGeom prst="rect">
            <a:avLst/>
          </a:prstGeom>
          <a:solidFill>
            <a:srgbClr val="2A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310128"/>
            <a:ext cx="17830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12463"/>
            <a:ext cx="1783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Features (post-leakage)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246120"/>
            <a:ext cx="1783080" cy="777240"/>
          </a:xfrm>
          <a:prstGeom prst="rect">
            <a:avLst/>
          </a:prstGeom>
          <a:solidFill>
            <a:srgbClr val="2A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310128"/>
            <a:ext cx="17830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10K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12463"/>
            <a:ext cx="1783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Test loans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46120"/>
            <a:ext cx="1783080" cy="777240"/>
          </a:xfrm>
          <a:prstGeom prst="rect">
            <a:avLst/>
          </a:prstGeom>
          <a:solidFill>
            <a:srgbClr val="2A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10128"/>
            <a:ext cx="17830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12463"/>
            <a:ext cx="1783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Competition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SAXA 5   ·   Andrew  ·  Hannah  ·  Jaci  ·  Will  ·  Lawrence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81728"/>
            <a:ext cx="8046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Problem Statement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16152"/>
            <a:ext cx="50749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64008" cy="356616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47823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4782312" cy="307238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</a:rPr>
              <a:t>Predict the interest rate (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int_rate</a:t>
            </a:r>
            <a:r>
              <a:rPr sz="1150" b="0" i="0">
                <a:solidFill>
                  <a:srgbClr val="374151"/>
                </a:solidFill>
                <a:latin typeface="Calibri"/>
              </a:rPr>
              <a:t>) assigned to LendingClub loan applications using only information available at origination — before any post-funding outcome is known.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Business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</a:rPr>
              <a:t>Accurate rate prediction improves risk-based pricing, reduces adverse selection, and supports fairer, more consistent offers to borrowers — directly affecting lender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6634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Key Constraint —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21608"/>
            <a:ext cx="46634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loan_status</a:t>
            </a:r>
            <a:r>
              <a:rPr sz="1150" b="0" i="0">
                <a:solidFill>
                  <a:srgbClr val="374151"/>
                </a:solidFill>
                <a:latin typeface="Calibri"/>
              </a:rPr>
              <a:t> is a post-origination outcome and is dropped immediately on load. The classic grade / sub_grade / installment leakage trio is absent from this data slice.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216152"/>
            <a:ext cx="32461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271016"/>
            <a:ext cx="3246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100K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673351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Training loans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057400"/>
            <a:ext cx="32461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112264"/>
            <a:ext cx="3246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Test loans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898648"/>
            <a:ext cx="32461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953512"/>
            <a:ext cx="3246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6.5–31%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355848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Target range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739896"/>
            <a:ext cx="324612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3794759"/>
            <a:ext cx="32461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12.95%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197096"/>
            <a:ext cx="3246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Mean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EDA ·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Target Variable: Interest Rate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8503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8229600" cy="21166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852928"/>
            <a:ext cx="64008" cy="182880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62656"/>
            <a:ext cx="24505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73552"/>
            <a:ext cx="2450591" cy="13350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Right-skewed (skew 0.85), long upper tail. Mean 12.95%, median 11.71%, range 6.46–30.99%.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852928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962656"/>
            <a:ext cx="24505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Modeling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73552"/>
            <a:ext cx="2450591" cy="13350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No transform needed for tree models — boosted trees split on quantiles and handle the asymmetric target natively.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852928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852928"/>
            <a:ext cx="64008" cy="1828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62656"/>
            <a:ext cx="24505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73552"/>
            <a:ext cx="2450591" cy="13350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 spread of ~24 points means small RMSE gains are meaningful. Higher rates cluster in longer-term, higher-DTI loans.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outputs/eda/02_target_distribution.png · true data/LC_train.csv (100,000 loans)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EDA ·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Missingness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29768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issingness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4023360" cy="23785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00600" y="1280160"/>
            <a:ext cx="40233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0600" y="1280160"/>
            <a:ext cx="64008" cy="105156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389888"/>
            <a:ext cx="37307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Only 10 columns have any missing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00784"/>
            <a:ext cx="3730752" cy="55778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Largest: mths_since_last_record at 90.9%, then emp_title (14.9%) and mths_since_recent_inq (10.0%).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423160"/>
            <a:ext cx="402336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242316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532888"/>
            <a:ext cx="37307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Missing = informative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43784"/>
            <a:ext cx="3730752" cy="64922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 blank “months since last record” means the borrower has no derogatory record at all. We add has_* flags instead of imputing a misleading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657600"/>
            <a:ext cx="40233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3657600"/>
            <a:ext cx="64008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767328"/>
            <a:ext cx="37307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Co-missing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078224"/>
            <a:ext cx="3730752" cy="5120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mo_sin_old_il_acct and mths_since_rcnt_il are missing on the exact same 2,204 rows — same “no installment account” cause.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outputs/eda/03_missingness_top15.png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EDA ·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Feature Distributions &amp; Outliers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2062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numeric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840480" cy="345724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09160" y="1280160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64008" cy="109728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89888"/>
            <a:ext cx="38221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Heavy-tailed monetary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00784"/>
            <a:ext cx="3822191" cy="6035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annual_inc, revol_bal, tot_cur_bal, tot_coll_amt are highly right-skewed — log-transformed for stability.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46888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46888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78608"/>
            <a:ext cx="38221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Zero-inflated counters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89504"/>
            <a:ext cx="3822191" cy="5577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tot_coll_amt is 88% zeros; pub_rec, delinq_2yrs are mostly zero — captured with binary “any event” flags.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611880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3611880"/>
            <a:ext cx="64008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721608"/>
            <a:ext cx="38221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Outliers kept, not deleted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032504"/>
            <a:ext cx="3822191" cy="5577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Rare extremes (income &gt; $1M, revol_util &gt; 150%) are legitimate. Trees are robust to them; only linear models need winsorizing.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outputs/eda/04_numeric_histograms.png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EDA ·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Correlation, Multicollinearity &amp; Top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977639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703320" cy="32930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0560" y="1280160"/>
            <a:ext cx="43434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64008" cy="178308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89888"/>
            <a:ext cx="40507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Strongest signals vs. int_rate (Spearman)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9260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FICO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−0.46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47672"/>
            <a:ext cx="29260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all_util (utilization)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47672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+0.33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03704"/>
            <a:ext cx="29260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revol_util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03704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+0.30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59736"/>
            <a:ext cx="29260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dti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59736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+0.18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15768"/>
            <a:ext cx="29260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loan term /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15768"/>
            <a:ext cx="109728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categorical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154680"/>
            <a:ext cx="43434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15468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264408"/>
            <a:ext cx="405079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Low multicollinearity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75304"/>
            <a:ext cx="4050791" cy="101498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Only real redundancy is FICO low/high — collapsed to one midpoint. revol_util ↔ all_util (~0.75) overlap, which trees tolerate fine. Clean feature space.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outputs/eda/07_correlation_heatmap.png · §5–7 EDA_REPORT.md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EDA ·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Leakage Checks &amp; Train/Test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1605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loan_status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886200" cy="1583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794760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loan_status spreads rates by 3.4 pp — dropped before any EDA or modeling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41605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64008" cy="13258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8988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Leakage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00784"/>
            <a:ext cx="3867911" cy="8321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loan_status dropped on load. All imputers, encoders and target-encoding fit on training folds only, then applied to validation/test — zero look-ahead.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697480"/>
            <a:ext cx="41605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69748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0720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Train vs. test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18104"/>
            <a:ext cx="3867911" cy="7406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Test loans are smaller (loan_amnt −$3,039, PSI 0.17) and slightly higher-FICO (+5 pts). The test set is a more conservative sample — flagged for monitoring.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023360"/>
            <a:ext cx="4160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4023360"/>
            <a:ext cx="6400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13308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Validation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443984"/>
            <a:ext cx="3867911" cy="2834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No date columns → random 5-fold CV (shuffle, seed 42), shared across models for fair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outputs/eda/08_loan_status_leakage.png · §8, §10 EDA_REPORT.md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Why the Final Feature Set Makes Sense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64008" cy="1024128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Credit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FICO midpoint (low+high)/2 — the single strongest, most intuitive driver of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36592" y="1280160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6592" y="1280160"/>
            <a:ext cx="64008" cy="1024128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389888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Leverage &amp; 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700784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revol_util, all_util, dti — how stretched the borrower already 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14016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14016"/>
            <a:ext cx="64008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23744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Loan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term (36/60 mo), loan_amnt, purpose — risk rises with longer, larger, riskier-purpose loans.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2414016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6592" y="2414016"/>
            <a:ext cx="64008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523744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2834640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annual_inc (log), mort_acc, total_acc — ability to repay.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47872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47872"/>
            <a:ext cx="64008" cy="10241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Behavioral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68496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has_derog_record, recent-inquiry flags — turn “missing” into real signal.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3547872"/>
            <a:ext cx="425196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6592" y="3547872"/>
            <a:ext cx="64008" cy="10241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657600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mbria"/>
              </a:rPr>
              <a:t>Dropped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3968496"/>
            <a:ext cx="3959352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emp_title (35k free-text values), title (duplicate of purpose), and all leakage columns.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Every feature is knowable at loan origination — the test any candidate had to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DATA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Shared Preprocessing &amp;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16152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64008" cy="352044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Missing-value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783080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FA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8 numeric fields stored as text (dti, revol_util, all_util…) cast at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95144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FA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Literal “NA” strings read as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807208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FA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Binary has_* flags for mths_since_*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3319272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D5FA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Median imputation fit on train folds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216152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216152"/>
            <a:ext cx="64008" cy="3520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Encoding &amp; transforms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83080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term → numeric months (36 / 60)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95144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emp_length → ordinal (&lt;1yr=0 … 10+=10)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fico = average of fico_range low &amp;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19272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log1p on skewed monetary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31335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emp_title / title dropped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7064" y="1216152"/>
            <a:ext cx="2788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216152"/>
            <a:ext cx="64008" cy="3520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Validation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1783080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No date columns → random 5-fold 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295144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KFold(shuffle=True, random_state=42)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807208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Same folds reused across all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319272"/>
            <a:ext cx="247802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74151"/>
                </a:solidFill>
                <a:latin typeface="Calibri"/>
              </a:rPr>
              <a:t>Out-of-fold (OOF) predictions for fair, leak-free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Identical preprocessing substrate so every model family is compared on equal footing.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Our Approach: A Five-Model Bake-Off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</a:rPr>
              <a:t>Each teammate independently built a different model family on the same data and folds. We then compared honestly and chose the best approach to 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42519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64008" cy="123444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938528"/>
            <a:ext cx="394106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Andrew</a:t>
            </a:r>
            <a:r>
              <a:rPr sz="1100" b="1" i="0">
                <a:solidFill>
                  <a:srgbClr val="2D5FA6"/>
                </a:solidFill>
                <a:latin typeface="Calibri"/>
              </a:rPr>
              <a:t>  —  Boosted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286000"/>
            <a:ext cx="39410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XGBoost · CatBoost · LightGBM, tuned + blended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592" y="1828800"/>
            <a:ext cx="42519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592" y="1828800"/>
            <a:ext cx="64008" cy="123444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1938528"/>
            <a:ext cx="394106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Hannah</a:t>
            </a:r>
            <a:r>
              <a:rPr sz="1100" b="1" i="0">
                <a:solidFill>
                  <a:srgbClr val="2D5FA6"/>
                </a:solidFill>
                <a:latin typeface="Calibri"/>
              </a:rPr>
              <a:t>  —  Bagged &amp; boosted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286000"/>
            <a:ext cx="39410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Random Forest, Extra Trees, Hist-Gradient-Boosting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42519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0040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310128"/>
            <a:ext cx="394106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Jaci</a:t>
            </a:r>
            <a:r>
              <a:rPr sz="1100" b="1" i="0">
                <a:solidFill>
                  <a:srgbClr val="F59E0B"/>
                </a:solidFill>
                <a:latin typeface="Calibri"/>
              </a:rPr>
              <a:t>  —  Single 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3657600"/>
            <a:ext cx="39410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Interpretable baseline, GridSearch-pruned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3200400"/>
            <a:ext cx="42519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6592" y="3200400"/>
            <a:ext cx="64008" cy="1234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3310128"/>
            <a:ext cx="3941064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Will</a:t>
            </a:r>
            <a:r>
              <a:rPr sz="1100" b="1" i="0">
                <a:solidFill>
                  <a:srgbClr val="1E2761"/>
                </a:solidFill>
                <a:latin typeface="Calibri"/>
              </a:rPr>
              <a:t>  —  Neural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657600"/>
            <a:ext cx="3941064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MLP regressor (deep-learning baseline)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Lawrence owned shared EDA, preprocessing and final integration. Winner selected on cross-validated RMSE.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Model Comparison —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850392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234440"/>
            <a:ext cx="123443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1234440"/>
            <a:ext cx="187451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234440"/>
            <a:ext cx="219456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2743" y="1234440"/>
            <a:ext cx="114300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RMSE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3" y="1234440"/>
            <a:ext cx="160020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63624"/>
            <a:ext cx="8503920" cy="384048"/>
          </a:xfrm>
          <a:prstGeom prst="rect">
            <a:avLst/>
          </a:prstGeom>
          <a:solidFill>
            <a:srgbClr val="E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64008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563624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761"/>
                </a:solidFill>
                <a:latin typeface="Calibri"/>
              </a:rPr>
              <a:t>Andrew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1563624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CatBoost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1563624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761"/>
                </a:solidFill>
                <a:latin typeface="Calibri"/>
              </a:rPr>
              <a:t>5-fold OOF (100k)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3" y="1563624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3.845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3" y="1563624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761"/>
                </a:solidFill>
                <a:latin typeface="Calibri"/>
              </a:rPr>
              <a:t>Best single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47672"/>
            <a:ext cx="8503920" cy="38404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1947672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Andrew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1947672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1947672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5-fold OOF (100k)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3" y="1947672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3.867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3" y="1947672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2nd best; corr 0.99 w/ CatBoost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31720"/>
            <a:ext cx="8503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331720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Andrew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2331720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LightGBM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2331720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5-fold OOF (100k)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3" y="2331720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3.945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3" y="2331720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3rd tree; near-zero blend weight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15768"/>
            <a:ext cx="8503920" cy="38404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2715768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Hannah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0784" y="2715768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Random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2715768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5-fold OOF (100k)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2743" y="2715768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4.055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3" y="2715768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R² ≈ 0.41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099815"/>
            <a:ext cx="8503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099815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Hannah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784" y="3099815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Hist-Grad-Boost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3099815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80/20 split (19.5k✱)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52743" y="3099815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3.834✱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3" y="3099815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✱Smaller slice — not comparable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483863"/>
            <a:ext cx="8503920" cy="384048"/>
          </a:xfrm>
          <a:prstGeom prst="rect">
            <a:avLst/>
          </a:prstGeom>
          <a:solidFill>
            <a:srgbClr val="E5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3483863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Jaci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00784" y="3483863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Decision Tree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66744" y="3483863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GridSearch (100k)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2743" y="3483863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not saved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3" y="3483863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Metrics not recorded in notebook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867911"/>
            <a:ext cx="8503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3867911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Will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0784" y="3867911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Neural Net (MLP)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6744" y="3867911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74151"/>
                </a:solidFill>
                <a:latin typeface="Calibri"/>
              </a:rPr>
              <a:t>5-fold OOF (100k)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52743" y="3867911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5.101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3867911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One fold diverged (see next)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251959"/>
            <a:ext cx="8503920" cy="384048"/>
          </a:xfrm>
          <a:prstGeom prst="rect">
            <a:avLst/>
          </a:prstGeom>
          <a:solidFill>
            <a:srgbClr val="E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4251959"/>
            <a:ext cx="64008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" y="4251959"/>
            <a:ext cx="123443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761"/>
                </a:solidFill>
                <a:latin typeface="Calibri"/>
              </a:rPr>
              <a:t>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00784" y="4251959"/>
            <a:ext cx="1874519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CatBoost + XGBoost blend 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66744" y="4251959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E2761"/>
                </a:solidFill>
                <a:latin typeface="Calibri"/>
              </a:rPr>
              <a:t>Honest held-out (100k)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52743" y="4251959"/>
            <a:ext cx="11430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3.841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87183" y="4251959"/>
            <a:ext cx="1600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E2761"/>
                </a:solidFill>
                <a:latin typeface="Calibri"/>
              </a:rPr>
              <a:t>FINAL submission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RMSE in interest-rate points (lower is better). ★ selected for final blend.  ✱Hannah's Hist-GB ran on a ~19.5k subset, so its score is not directly comparable to the 100k OOF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WHY NOT THE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Neural Network: Unstable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4206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4008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391363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Per-fold RMSE — one fold exploded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280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Fold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10972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4.06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37360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1280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Fold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39112"/>
            <a:ext cx="10972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4.11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39112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40864"/>
            <a:ext cx="1280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Fold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340864"/>
            <a:ext cx="10972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91C1C"/>
                </a:solidFill>
                <a:latin typeface="Calibri"/>
              </a:rPr>
              <a:t>7.96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40864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B91C1C"/>
                </a:solidFill>
                <a:latin typeface="Calibri"/>
              </a:rPr>
              <a:t>⚠ diverged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42616"/>
            <a:ext cx="1280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Fold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42616"/>
            <a:ext cx="10972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4.13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642616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44368"/>
            <a:ext cx="1280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Fold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944368"/>
            <a:ext cx="10972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4.02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944368"/>
            <a:ext cx="1417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280"/>
                </a:solidFill>
                <a:latin typeface="Calibri"/>
              </a:rPr>
              <a:t>OOF RMSE 5.10 · R² 0.06 — dragged down by fold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234440"/>
            <a:ext cx="41605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34416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What went wrong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655064"/>
            <a:ext cx="3867911" cy="9235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On one fold the network's loss blew up (exploding-gradient-style instability): predictions diverged and R² went negative (−1.2). The aggregate metrics became unreliable and irreproducible.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743200"/>
            <a:ext cx="41605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63440" y="2743200"/>
            <a:ext cx="64008" cy="132588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85292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Why ANNs fit this data poorly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163824"/>
            <a:ext cx="3867911" cy="8321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Mostly tabular, mixed-type, modest-size data with strong monotonic signals (FICO↓, utilization↑). Networks need heavy scaling/tuning to be stable here and still lagged the trees.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4114800"/>
            <a:ext cx="41605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4114800"/>
            <a:ext cx="64008" cy="65836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22452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35424"/>
            <a:ext cx="3867911" cy="1645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Even the best stable NN (≈4.0 RMSE) trailed every boosted tree — so we moved to tree-based models.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will/LC_Project1_Neural_Network_Model.ipynb (sklearn MLPRegressor, 5-fold OOF).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The Two Best Models Are Both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8412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74151"/>
                </a:solidFill>
                <a:latin typeface="Calibri"/>
              </a:rPr>
              <a:t>After the bake-off, the two strongest, most reliable models were both gradient-boosted trees — evaluated on identical 100k out-of-fold predictions.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64008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CatBoost</a:t>
            </a:r>
            <a:r>
              <a:rPr sz="1100" b="1" i="0">
                <a:solidFill>
                  <a:srgbClr val="F59E0B"/>
                </a:solidFill>
                <a:latin typeface="Calibri"/>
              </a:rPr>
              <a:t>   ★ best single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32304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3.845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16352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OOF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77440"/>
            <a:ext cx="2011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Handles categoricals natively; ordered boosting curbs overfitting. Strongest standalone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Tuned via grid search, 5-fold bagged refit, fully leakage-controlled.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783080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783080"/>
            <a:ext cx="64008" cy="210312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E2761"/>
                </a:solidFill>
                <a:latin typeface="Cambria"/>
              </a:rPr>
              <a:t>XGBoost</a:t>
            </a:r>
            <a:r>
              <a:rPr sz="1100" b="1" i="0">
                <a:solidFill>
                  <a:srgbClr val="2D5FA6"/>
                </a:solidFill>
                <a:latin typeface="Calibri"/>
              </a:rPr>
              <a:t>   2nd best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37744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432304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3.867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16352"/>
            <a:ext cx="1737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OOF 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20116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Optuna-tuned, deep history on this problem. Slightly different errors than CatBoost.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LightGBM (3.945) was close behind but added no diversity, so it was set aside.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85039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64008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33088"/>
            <a:ext cx="8211312" cy="56692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74151"/>
                </a:solidFill>
                <a:latin typeface="Calibri"/>
              </a:rPr>
              <a:t>Both beat every non-tree model by a wide margin (NN 5.10, Ridge 4.12). Trees won on accuracy and stability — the natural fit for this tabular, mixed-type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FINAL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Why Blend the Two Best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1615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64008" cy="233172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Lower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2496311" cy="18379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Averaging two strong models cancels out fold-to-fold noise. The honest held-out score (3.8414) almost exactly matched in-sample (3.8413) — an optimism gap of just 0.0001.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21615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216152"/>
            <a:ext cx="64008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More stable &amp; 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636776"/>
            <a:ext cx="2496311" cy="18379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A weighted average can't swing as far as either model alone. We chose a simple constrained average over a meta-model (within 0.002) for transparency and defensibility.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216152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216152"/>
            <a:ext cx="64008" cy="2331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325880"/>
            <a:ext cx="24963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Preserves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636776"/>
            <a:ext cx="2496311" cy="183794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The blend beats the best single model (CatBoost 3.8451 → 3.8414). Weights: CatBoost 0.72, XGBoost 0.27 — together ~99%; LightGBM rounded to near zero.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850392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1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FINAL MODEL — CatBoost + XGBoost blend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3.841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Held-out 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4160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0.72 / 0.27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39" y="4498848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Cat / XGB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160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+0.0001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498848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Optimism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4160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SAXA5.csv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4498848"/>
            <a:ext cx="21031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Why only a small gain? CatBoost and XGBoost errors correlate ~0.99 — blending two similar models caps the upside but buys real stability.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What Drives the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4114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lain_cb_gain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3749039" cy="2665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572000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280"/>
                </a:solidFill>
                <a:latin typeface="Calibri"/>
              </a:rPr>
              <a:t>Top-10 feature importance (gain) — final tree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4160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64008" cy="1554480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38988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Credit fundamentals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700784"/>
            <a:ext cx="3867911" cy="1060703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FICO score, utilization (revol_util / all_util) and DTI dominate — exactly the drivers a credit analyst would expect. Higher FICO → lower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41605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035808"/>
            <a:ext cx="386791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mbria"/>
              </a:rPr>
              <a:t>Confirmed two 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46704"/>
            <a:ext cx="3867911" cy="7406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SHAP and permutation importance agree on the ranking — the model relies on real risk signals, not data artifacts or leakage.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251960"/>
            <a:ext cx="41605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4251960"/>
            <a:ext cx="64008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361688"/>
            <a:ext cx="3867911" cy="3657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74151"/>
                </a:solidFill>
                <a:latin typeface="Calibri"/>
              </a:rPr>
              <a:t>Explainable + leakage-safe → safe to trust for risk-based pricing.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Source: outputs/simplification/ (SHAP &amp; permutation importance on the final model).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863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7863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Findings &amp;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9961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74980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Five model families compared on identical data and folds — boosted trees won decisively.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57984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74980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neural network was unstable (one fold diverged, R² −1.2) and trailed every tree; rejected.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1635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74980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Final model blends the two best trees, CatBoost + XGBoost — RMSE 3.841, beating the best single model with a near-zero optimism gap.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7472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749807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FICO, utilization and DTI drive predictions; leakage (loan_status) removed before any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2A3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8"/>
            <a:ext cx="7498079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Best model: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CatBoost + XGBoost blend</a:t>
            </a:r>
            <a:r>
              <a:rPr sz="1200" b="0" i="0">
                <a:solidFill>
                  <a:srgbClr val="CADCFC"/>
                </a:solidFill>
                <a:latin typeface="Calibri"/>
              </a:rPr>
              <a:t>   ·   Held-out RMSE 3.841   ·   Submission: SAXA5.csv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64608"/>
            <a:ext cx="786384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Georgetown MSBA  ·  Applied AI in Business  ·  SAXA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Model Details &amp;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841248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16152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64008" cy="1078992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CatBoost (best single)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3959352" cy="58521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5-fold OOF RMSE 3.845. Native categorical handling, ordered boosting; grid-tuned, 5-fold bagged refit. emp_title OOF target-encoded (smoothed).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36592" y="1216152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6592" y="1216152"/>
            <a:ext cx="64008" cy="1078992"/>
          </a:xfrm>
          <a:prstGeom prst="rect">
            <a:avLst/>
          </a:prstGeom>
          <a:solidFill>
            <a:srgbClr val="2D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325880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636776"/>
            <a:ext cx="3959352" cy="58521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5-fold OOF RMSE 3.867. Optuna-tuned (depth, learning-rate, subsample). Frequency-encoded high-cardinality categoricals.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86584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86584"/>
            <a:ext cx="64008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LightGBM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07208"/>
            <a:ext cx="395935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5-fold OOF RMSE 3.945. Coarse grid (108 combos). Negligible blend weight (0.013) — set aside.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2386584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6592" y="2386584"/>
            <a:ext cx="64008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496312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Hannah — RF / Extra Trees / Hist-GB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2807208"/>
            <a:ext cx="395935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RF OOF RMSE 4.055 (R² 0.41). Hist-GB 3.834 on a ~19.5k subset (not comparable to 100k OOF).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57016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57016"/>
            <a:ext cx="64008" cy="10789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66744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Jaci — Decision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77639"/>
            <a:ext cx="395935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GridSearchCV over max_depth &amp; ccp_alpha on 100k. Performance metrics were not saved in the notebook — flagged.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36592" y="3557016"/>
            <a:ext cx="425196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6592" y="3557016"/>
            <a:ext cx="64008" cy="10789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666744"/>
            <a:ext cx="39593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mbria"/>
              </a:rPr>
              <a:t>Will — Neural Net (MLP)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3977639"/>
            <a:ext cx="3959352" cy="5852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74151"/>
                </a:solidFill>
                <a:latin typeface="Calibri"/>
              </a:rPr>
              <a:t>Baseline OOF RMSE 5.10 (fold 3 diverged). Best stable single-split ≈4.0. Tuned via RandomizedSearchCV.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All RMSE in interest-rate points. Blend = constrained weighted average (weights ≥0, sum 1), fit by leave-one-fold-out.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