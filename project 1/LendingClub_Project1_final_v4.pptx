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MACHINE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Predicting LendingClub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Loan Interest Rates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66928" y="3639312"/>
            <a:ext cx="12801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840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Application-time prediction of int_rate — exploratory analysis, model comparison, and explainability on 100,000 loans.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4754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LOANS  ·  38 FEATURES  ·  BEST RMSE 3.87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557784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7424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/ Section]     </a:t>
            </a:r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SAXA 8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608990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PROBLEM FRAMING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&amp;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interest rate a LendingClub loan would be offered, using only information available at the moment of application.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596896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int_rate (loan APR, %) for 10,000 held-out applications and minimize test-set RMSE.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ranges 6.46–30.99%, mean 12.95, right-skewed (skew 0.85).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regression on tabular application data — no time series, no text scoring.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2249424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GUARDRAILS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8" y="2596896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is post-origination leakage and is dropped before any modeling.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sub_grade / installment are absent from this slice — no shortcut to APR.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columns exist, so validation uses a random 80/20 split, not a temporal one.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828032"/>
            <a:ext cx="11057839" cy="10973"/>
          </a:xfrm>
          <a:prstGeom prst="rect">
            <a:avLst/>
          </a:prstGeom>
          <a:solidFill>
            <a:srgbClr val="E5E0D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956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78496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78496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90064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90064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01632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6.46–31%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01632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3199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12.95%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13199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PREPARING THE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Turning Applications Into Useful Signals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translate each raw loan application into 36 consistent, comparable measures — applied the same way to every applicant, and never using the answer we are trying to predict.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CLEAN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quirks; remove unfair hints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4314" y="2048256"/>
            <a:ext cx="3503066" cy="67665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0618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BUILD MEASURES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0618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clear, comparable indicators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1701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8005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STRESS-TEST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8005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 applicants it never saw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strength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score, score tier, and loan length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 read on each borrower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821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0281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450281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7829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afford it?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281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size and debt compared to income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281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borrowing against earnings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9509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9509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1" name="Shape 29"/>
          <p:cNvSpPr/>
          <p:nvPr/>
        </p:nvSpPr>
        <p:spPr>
          <a:xfrm>
            <a:off x="8274101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8274101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49589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groupings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74101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and credit-use tiers; extreme values smoothed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4101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borrowers; tames outliers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2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0700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score, debt, and loan length work together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risk visible only in combination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3821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3821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5" name="Shape 43"/>
          <p:cNvSpPr/>
          <p:nvPr/>
        </p:nvSpPr>
        <p:spPr>
          <a:xfrm>
            <a:off x="450281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46" name="Text 44"/>
          <p:cNvSpPr/>
          <p:nvPr/>
        </p:nvSpPr>
        <p:spPr>
          <a:xfrm>
            <a:off x="450281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97829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gaps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0281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issues, credit-file age, missing records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0281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what is missing as meaningful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9509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09509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2" name="Shape 50"/>
          <p:cNvSpPr/>
          <p:nvPr/>
        </p:nvSpPr>
        <p:spPr>
          <a:xfrm>
            <a:off x="8274101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53" name="Text 51"/>
          <p:cNvSpPr/>
          <p:nvPr/>
        </p:nvSpPr>
        <p:spPr>
          <a:xfrm>
            <a:off x="8274101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749589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purpose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74101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state, ZIP region, and reason for the loan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74101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local patterns without unfair hints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6928" y="5852160"/>
            <a:ext cx="10234879" cy="457200"/>
          </a:xfrm>
          <a:prstGeom prst="rect">
            <a:avLst/>
          </a:prstGeom>
          <a:solidFill>
            <a:srgbClr val="EFE7D5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852160"/>
            <a:ext cx="9914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Safeguards: We remove anything that would not be known when someone applies, and every measure is built without using the outcome — so the results stay fair and trustworthy.</a:t>
            </a:r>
            <a:pPr indent="0" marL="0">
              <a:lnSpc>
                <a:spcPct val="95000"/>
              </a:lnSpc>
              <a:buNone/>
            </a:pP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EXPLORATORY 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Data Says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is the dominant application-time signal; utilization, DTI and loan term carry most of the remaining recoverable variance.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48716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↔ rate: Spearman −0.46 — higher score, lower APR.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next: all_util +0.33, revol_util +0.30; DTI +0.18.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term and small-business / educational purposes price higher.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mths_since_last_record is 90.9% missing — "no record" is signal.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 are smaller (loan_amnt PSI 0.17), slightly higher FICO.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38928" y="2121408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vs INTEREST RATE</a:t>
            </a:r>
            <a:endParaRPr lang="en-US" sz="1600" dirty="0"/>
          </a:p>
        </p:txBody>
      </p:sp>
      <p:pic>
        <p:nvPicPr>
          <p:cNvPr id="9" name="Image 0" descr="/tmp/deck/assets/fi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967" y="2432304"/>
            <a:ext cx="4029761" cy="1783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8928" y="4370832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600" dirty="0"/>
          </a:p>
        </p:txBody>
      </p:sp>
      <p:pic>
        <p:nvPicPr>
          <p:cNvPr id="11" name="Image 1" descr="/tmp/deck/assets/targe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91" y="4681728"/>
            <a:ext cx="3564514" cy="1627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Models, One Winner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models were trained on the same data and the same 80/20 split. Cross-validation error (CV RMSE) is the one score recorded for every model — CatBoost posts the lowest and is the model we submitted.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9" name="Picture 8" descr="cvrms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00" y="2560000"/>
            <a:ext cx="5850000" cy="37660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00000" y="2560000"/>
          <a:ext cx="5024767" cy="27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0000"/>
                <a:gridCol w="920000"/>
                <a:gridCol w="900000"/>
                <a:gridCol w="860000"/>
                <a:gridCol w="784767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CV RMSE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RMSE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MAE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R²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4.2781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4.0723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4.019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3.007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0.410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3.867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2.955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Neural Net (MLP)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5.101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CatBoost (final)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96E"/>
                          </a:solidFill>
                          <a:latin typeface="Calibri"/>
                        </a:rPr>
                        <a:t>3.863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96E"/>
                          </a:solidFill>
                          <a:latin typeface="Calibri"/>
                        </a:rPr>
                        <a:t>3.872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2.902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0.465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00000" y="5430000"/>
            <a:ext cx="5024767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9A96E"/>
                </a:solidFill>
                <a:latin typeface="Calibri"/>
              </a:rPr>
              <a:t>✓  </a:t>
            </a:r>
            <a:r>
              <a:rPr sz="1150" b="1">
                <a:solidFill>
                  <a:srgbClr val="1A1A1E"/>
                </a:solidFill>
                <a:latin typeface="Calibri"/>
              </a:rPr>
              <a:t>CatBoost edges XGBoost</a:t>
            </a:r>
            <a:r>
              <a:rPr sz="1150" b="0">
                <a:solidFill>
                  <a:srgbClr val="6E6A5C"/>
                </a:solidFill>
                <a:latin typeface="Calibri"/>
              </a:rPr>
              <a:t> and its cross-check (3.86) matches the hold-out (3.87) — not overfit.</a:t>
            </a:r>
          </a:p>
          <a:p>
            <a:r>
              <a:rPr sz="950" i="1">
                <a:solidFill>
                  <a:srgbClr val="6E6A5C"/>
                </a:solidFill>
                <a:latin typeface="Calibri"/>
              </a:rPr>
              <a:t>—  = metric not recorded for that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FINAL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Model: CatBoost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native categorical handling; 5-fold per-fold target encoding gives an honest cross-validated estimate that matches the holdout.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PERFORMANCE (20%)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6334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(CV)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15768" y="26334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3.872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15768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2.902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1576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0.465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1576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4626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HYPERPARAMETERS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21808" y="2249424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600" dirty="0"/>
          </a:p>
        </p:txBody>
      </p:sp>
      <p:pic>
        <p:nvPicPr>
          <p:cNvPr id="18" name="Image 0" descr="/tmp/deck/assets/res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6976" y="2560320"/>
            <a:ext cx="4992624" cy="1783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21808" y="4535424"/>
            <a:ext cx="6302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(3.863) and holdout RMSE (3.872) agree closely — the model is well-calibrated and not over-fit. R² of 0.465 reflects the dataset's real ceiling without grade / sub-grade.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4974336"/>
          <a:ext cx="4297680" cy="136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/>
                <a:gridCol w="1997680"/>
              </a:tblGrid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Hyperparameter</a:t>
                      </a:r>
                    </a:p>
                  </a:txBody>
                  <a:tcPr anchor="ctr" marL="75000" marR="55000" marT="8000" marB="8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5000" marR="55000" marT="8000" marB="8000">
                    <a:solidFill>
                      <a:srgbClr val="333333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Tree depth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L2 regularization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Random strength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Bagging temperature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Border count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Max iterations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2,500  (early stop @ 100)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Predicted-rate range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6% – 31%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EXPLAINABILITY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Model Decides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techniques agree with the EDA: SHAP values and permutation importance both rank credit quality, loan structure and utilization at the top.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</a:t>
            </a:r>
            <a:endParaRPr lang="en-US" sz="1600" dirty="0"/>
          </a:p>
        </p:txBody>
      </p:sp>
      <p:pic>
        <p:nvPicPr>
          <p:cNvPr id="7" name="Image 0" descr="/tmp/deck/assets/s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633472"/>
            <a:ext cx="3456432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36008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600" dirty="0"/>
          </a:p>
        </p:txBody>
      </p:sp>
      <p:pic>
        <p:nvPicPr>
          <p:cNvPr id="9" name="Image 1" descr="/tmp/deck/assets/pe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633472"/>
            <a:ext cx="3200400" cy="2269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47888" y="2304288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47888" y="2651760"/>
            <a:ext cx="337687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dominates — a strong score is the single biggest lever on the offered rate.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structure (term × DTI, loan_amnt) is the next driver of pricing.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recent credit activity push rates up at the margin.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drivers across SHAP, permutation &amp; gain — the model is trustworthy.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REFLECTION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&amp; Reflection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1700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520000"/>
            <a:ext cx="5300320" cy="1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Instant, consistent pricing.  </a:t>
            </a:r>
            <a:r>
              <a:rPr b="0" sz="1600">
                <a:solidFill>
                  <a:srgbClr val="E8E3D9"/>
                </a:solidFill>
                <a:latin typeface="Calibri"/>
              </a:rPr>
              <a:t>The rate a borrower qualifies for is estimated the moment they apply — every applicant judged by the same standard.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Dependable in the real world.  </a:t>
            </a:r>
            <a:r>
              <a:rPr b="0" sz="1600">
                <a:solidFill>
                  <a:srgbClr val="E8E3D9"/>
                </a:solidFill>
                <a:latin typeface="Calibri"/>
              </a:rPr>
              <a:t>It is just as accurate on new applicants as in testing, so the results can be trusted for real decisions.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Transparent by design.  </a:t>
            </a:r>
            <a:r>
              <a:rPr b="0" sz="1600">
                <a:solidFill>
                  <a:srgbClr val="E8E3D9"/>
                </a:solidFill>
                <a:latin typeface="Calibri"/>
              </a:rPr>
              <a:t>It weighs the same signals a seasoned underwriter would — credit strength, loan size, and borrowing habits — so every estimate can be explained.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8" y="31700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3520000"/>
            <a:ext cx="5300320" cy="1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Clean data beats clever models.  </a:t>
            </a:r>
            <a:r>
              <a:rPr b="0" sz="1600">
                <a:solidFill>
                  <a:srgbClr val="E8E3D9"/>
                </a:solidFill>
                <a:latin typeface="Calibri"/>
              </a:rPr>
              <a:t>Getting the inputs right delivered more than any added complexity ever could.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Honest testing builds confidence.  </a:t>
            </a:r>
            <a:r>
              <a:rPr b="0" sz="1600">
                <a:solidFill>
                  <a:srgbClr val="E8E3D9"/>
                </a:solidFill>
                <a:latin typeface="Calibri"/>
              </a:rPr>
              <a:t>We measured the model only on data it had never seen — so the accuracy is real, not optimistic.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We know the ceiling.  </a:t>
            </a:r>
            <a:r>
              <a:rPr b="0" sz="1600">
                <a:solidFill>
                  <a:srgbClr val="E8E3D9"/>
                </a:solidFill>
                <a:latin typeface="Calibri"/>
              </a:rPr>
              <a:t>About 47% is the realistic limit for this data; reaching it is the goal met, not a shortfall.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66928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CatBoost — tuned for accuracy, with every prediction kept within the realistic 6%–31% rate range.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66928" y="1605000"/>
            <a:ext cx="110578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i="0">
                <a:solidFill>
                  <a:srgbClr val="CFC9BC"/>
                </a:solidFill>
                <a:latin typeface="Calibri"/>
              </a:rPr>
              <a:t>The model estimates the interest rate a new applicant would be offered — accurately, dependably, and for understandable reasons.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± 3.9 pts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Typical error when estimating a loan’s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6207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47%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Of the differences in rates the model explains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486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Consistent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Same accuracy on new loans as in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</a:t>
            </a:r>
            <a:endParaRPr lang="en-US" sz="1600" dirty="0"/>
          </a:p>
        </p:txBody>
      </p:sp>
      <p:pic>
        <p:nvPicPr>
          <p:cNvPr id="6" name="Image 0" descr="/tmp/deck/assets/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341" y="1938528"/>
            <a:ext cx="2355494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CATEGORY</a:t>
            </a:r>
            <a:endParaRPr lang="en-US" sz="1600" dirty="0"/>
          </a:p>
        </p:txBody>
      </p:sp>
      <p:pic>
        <p:nvPicPr>
          <p:cNvPr id="8" name="Image 1" descr="/tmp/deck/assets/cat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972" y="1938528"/>
            <a:ext cx="4227271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43708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(TOP COLUMNS)</a:t>
            </a:r>
            <a:endParaRPr lang="en-US" sz="1600" dirty="0"/>
          </a:p>
        </p:txBody>
      </p:sp>
      <p:pic>
        <p:nvPicPr>
          <p:cNvPr id="10" name="Image 2" descr="/tmp/deck/assets/mis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18" y="4681728"/>
            <a:ext cx="3167939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8" y="43708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DRIFT</a:t>
            </a:r>
            <a:endParaRPr lang="en-US" sz="1600" dirty="0"/>
          </a:p>
        </p:txBody>
      </p:sp>
      <p:pic>
        <p:nvPicPr>
          <p:cNvPr id="12" name="Image 3" descr="/tmp/deck/assets/dr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4681728"/>
            <a:ext cx="5300320" cy="1017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Explainability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(HIGH-RATE LOAN)</a:t>
            </a:r>
            <a:endParaRPr lang="en-US" sz="1600" dirty="0"/>
          </a:p>
        </p:txBody>
      </p:sp>
      <p:pic>
        <p:nvPicPr>
          <p:cNvPr id="6" name="Image 0" descr="/tmp/deck/asset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452" y="1938528"/>
            <a:ext cx="3319272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GAIN (TOP 10)</a:t>
            </a:r>
            <a:endParaRPr lang="en-US" sz="1600" dirty="0"/>
          </a:p>
        </p:txBody>
      </p:sp>
      <p:pic>
        <p:nvPicPr>
          <p:cNvPr id="8" name="Image 1" descr="/tmp/deck/assets/g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908" y="1938528"/>
            <a:ext cx="2965399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8" y="418795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(TOP 3)</a:t>
            </a:r>
            <a:endParaRPr lang="en-US" sz="1600" dirty="0"/>
          </a:p>
        </p:txBody>
      </p:sp>
      <p:pic>
        <p:nvPicPr>
          <p:cNvPr id="10" name="Image 2" descr="/tmp/deck/assets/pd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473" y="4498848"/>
            <a:ext cx="4430268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k_n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180000"/>
            <a:ext cx="7000000" cy="33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 spc="170">
                <a:solidFill>
                  <a:srgbClr val="C9A96E"/>
                </a:solidFill>
                <a:latin typeface="Calibri"/>
              </a:rPr>
              <a:t>ACKNOWLEDGEMENTS  ·  GROUP SAXA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400">
                <a:solidFill>
                  <a:srgbClr val="A9A39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Interest Rate Prediction</dc:title>
  <dc:subject>PptxGenJS Presentation</dc:subject>
  <dc:creator>Project 1 — Group SAXA 8</dc:creator>
  <cp:lastModifiedBy>Project 1 — Group SAXA 8</cp:lastModifiedBy>
  <cp:revision>1</cp:revision>
  <dcterms:created xsi:type="dcterms:W3CDTF">2026-06-01T03:57:25Z</dcterms:created>
  <dcterms:modified xsi:type="dcterms:W3CDTF">2026-06-01T03:57:25Z</dcterms:modified>
</cp:coreProperties>
</file>